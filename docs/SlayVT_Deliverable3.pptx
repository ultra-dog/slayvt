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6b6b83dab774833" /><Relationship Type="http://schemas.openxmlformats.org/officeDocument/2006/relationships/extended-properties" Target="/docProps/app.xml" Id="R39d9ec5ab6ef4154" /><Relationship Type="http://schemas.openxmlformats.org/officeDocument/2006/relationships/officeDocument" Target="/ppt/presentation.xml" Id="Rd8e3ff1e6afe431a" /></Relationships>
</file>

<file path=ppt/presentation.xml><?xml version="1.0" encoding="utf-8"?>
<p:presentation xmlns:p="http://schemas.openxmlformats.org/presentationml/2006/main">
  <p:sldMasterIdLst>
    <p:sldMasterId xmlns:r="http://schemas.openxmlformats.org/officeDocument/2006/relationships" id="2147483648" r:id="R9182c2916ccb4c2d"/>
  </p:sldMasterIdLst>
  <p:notesMasterIdLst>
    <p:notesMasterId xmlns:r="http://schemas.openxmlformats.org/officeDocument/2006/relationships" r:id="R970077a70e7f4d1c"/>
  </p:notesMasterIdLst>
  <p:sldIdLst>
    <p:sldId xmlns:r="http://schemas.openxmlformats.org/officeDocument/2006/relationships" id="256" r:id="R0fa26c5356884b7b"/>
    <p:sldId xmlns:r="http://schemas.openxmlformats.org/officeDocument/2006/relationships" id="257" r:id="Rdfc2fbfb0fbe4e7d"/>
    <p:sldId xmlns:r="http://schemas.openxmlformats.org/officeDocument/2006/relationships" id="258" r:id="R9b79f342660544bc"/>
    <p:sldId xmlns:r="http://schemas.openxmlformats.org/officeDocument/2006/relationships" id="259" r:id="R194212f6c8d24070"/>
    <p:sldId xmlns:r="http://schemas.openxmlformats.org/officeDocument/2006/relationships" id="260" r:id="R1c06e32400444ad0"/>
    <p:sldId xmlns:r="http://schemas.openxmlformats.org/officeDocument/2006/relationships" id="261" r:id="Re1f473be34164682"/>
    <p:sldId xmlns:r="http://schemas.openxmlformats.org/officeDocument/2006/relationships" id="262" r:id="R47b17a5e7e6545a4"/>
    <p:sldId xmlns:r="http://schemas.openxmlformats.org/officeDocument/2006/relationships" id="263" r:id="R4f6b98c9c15c429d"/>
    <p:sldId xmlns:r="http://schemas.openxmlformats.org/officeDocument/2006/relationships" id="264" r:id="R0e1c272b050249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5a1f57998d4877" /><Relationship Type="http://schemas.openxmlformats.org/officeDocument/2006/relationships/slideMaster" Target="/ppt/slideMasters/slideMaster1.xml" Id="R9182c2916ccb4c2d" /><Relationship Type="http://schemas.openxmlformats.org/officeDocument/2006/relationships/notesMaster" Target="/ppt/notesMasters/notesMaster1.xml" Id="R970077a70e7f4d1c" /><Relationship Type="http://schemas.openxmlformats.org/officeDocument/2006/relationships/presProps" Target="/ppt/presProps.xml" Id="R5da128f1dc1d4fc6" /><Relationship Type="http://schemas.openxmlformats.org/officeDocument/2006/relationships/tableStyles" Target="/ppt/tableStyles.xml" Id="R0f1f346349a34889" /><Relationship Type="http://schemas.openxmlformats.org/officeDocument/2006/relationships/slide" Target="/ppt/slides/slide1.xml" Id="R0fa26c5356884b7b" /><Relationship Type="http://schemas.openxmlformats.org/officeDocument/2006/relationships/slide" Target="/ppt/slides/slide2.xml" Id="Rdfc2fbfb0fbe4e7d" /><Relationship Type="http://schemas.openxmlformats.org/officeDocument/2006/relationships/slide" Target="/ppt/slides/slide3.xml" Id="R9b79f342660544bc" /><Relationship Type="http://schemas.openxmlformats.org/officeDocument/2006/relationships/slide" Target="/ppt/slides/slide4.xml" Id="R194212f6c8d24070" /><Relationship Type="http://schemas.openxmlformats.org/officeDocument/2006/relationships/slide" Target="/ppt/slides/slide5.xml" Id="R1c06e32400444ad0" /><Relationship Type="http://schemas.openxmlformats.org/officeDocument/2006/relationships/slide" Target="/ppt/slides/slide6.xml" Id="Re1f473be34164682" /><Relationship Type="http://schemas.openxmlformats.org/officeDocument/2006/relationships/slide" Target="/ppt/slides/slide7.xml" Id="R47b17a5e7e6545a4" /><Relationship Type="http://schemas.openxmlformats.org/officeDocument/2006/relationships/slide" Target="/ppt/slides/slide8.xml" Id="R4f6b98c9c15c429d" /><Relationship Type="http://schemas.openxmlformats.org/officeDocument/2006/relationships/slide" Target="/ppt/slides/slide9.xml" Id="R0e1c272b050249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d1681db2f6a4a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b2e4a123d764a22" /><Relationship Type="http://schemas.openxmlformats.org/officeDocument/2006/relationships/notesMaster" Target="/ppt/notesMasters/notesMaster1.xml" Id="R3248c2c983fd4c7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f7ab8843dc43ef" /><Relationship Type="http://schemas.openxmlformats.org/officeDocument/2006/relationships/notesMaster" Target="/ppt/notesMasters/notesMaster1.xml" Id="Rf41a9580f53c47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8fec3dec0b9144af" /><Relationship Type="http://schemas.openxmlformats.org/officeDocument/2006/relationships/notesMaster" Target="/ppt/notesMasters/notesMaster1.xml" Id="R5ba99ff443054f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b7d79dc15d94b3b" /><Relationship Type="http://schemas.openxmlformats.org/officeDocument/2006/relationships/notesMaster" Target="/ppt/notesMasters/notesMaster1.xml" Id="Rff6f48d982734ad3" /></Relationships>
</file>

<file path=ppt/notesSlides/_rels/notesSlide5.xml.rels>&#65279;<?xml version="1.0" encoding="utf-8"?><Relationships xmlns="http://schemas.openxmlformats.org/package/2006/relationships"><Relationship Type="http://schemas.openxmlformats.org/officeDocument/2006/relationships/slide" Target="/ppt/slides/slide5.xml" Id="Rbde2de47cbfb49eb" /><Relationship Type="http://schemas.openxmlformats.org/officeDocument/2006/relationships/notesMaster" Target="/ppt/notesMasters/notesMaster1.xml" Id="R52f69f4309ee45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423554edc14419" /><Relationship Type="http://schemas.openxmlformats.org/officeDocument/2006/relationships/notesMaster" Target="/ppt/notesMasters/notesMaster1.xml" Id="R885c59d156b348c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9f6b2f23bc348ed" /><Relationship Type="http://schemas.openxmlformats.org/officeDocument/2006/relationships/notesMaster" Target="/ppt/notesMasters/notesMaster1.xml" Id="Re1114f2456bb477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05a2530a86046e5" /><Relationship Type="http://schemas.openxmlformats.org/officeDocument/2006/relationships/notesMaster" Target="/ppt/notesMasters/notesMaster1.xml" Id="R6332a593428e45f8" /></Relationships>
</file>

<file path=ppt/notesSlides/_rels/notesSlide9.xml.rels>&#65279;<?xml version="1.0" encoding="utf-8"?><Relationships xmlns="http://schemas.openxmlformats.org/package/2006/relationships"><Relationship Type="http://schemas.openxmlformats.org/officeDocument/2006/relationships/slide" Target="/ppt/slides/slide9.xml" Id="Rb37bb3ce76d74c95" /><Relationship Type="http://schemas.openxmlformats.org/officeDocument/2006/relationships/notesMaster" Target="/ppt/notesMasters/notesMaster1.xml" Id="R74c4c3284c3743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SlayVT is our Virginia Tech-themed, turn-based deck-building game. This deck condenses the team presentation script. Repository: https://github.com/ultra-dog/SlayVT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Players build a deck during a 15-floor run. The Meteorologist uses Heat and Cold; switching a target’s temperature causes reversal damage. Combat reveals enemy HP and intent, so the player must spend limited Energy on offense, defense, or setup. Events, shop, and rest site provide noncombat decisions; the run ends after the boss.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current system diagram already included in the repository README. Main coordinates rooms and battles. BattleSystem uses BattleContext, which groups Player, Enemy and BattlePiles; cards apply CardEffect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reduced scope to finish a working game: relics and potions were removed; card and event counts were cut; balance and encounter variety remain limited. The team designed the cards and the Meteorologist’s temperature system rather than delegating that creative work to GenAI. A separate Steam Workshop mod is a possible continuation, not a requirement of this Java deliverable.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a short run in Test Mode. Show the room choice, a battle with enemy intent, Heat/Cold card play, a Rest Site or event, and one intentionally invalid menu input. Do not claim an invalid-input case is safe unless it is demonstrated successfully.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Scope to spec: each room needed input, state changes, output, and invalid-input handling, revealing more structural complexity than the initial idea suggested. Spec to code: a two-option Rest Site seemed simple, but upgrading required each card to define an upgraded state. Our card-selection UI works as a long numbered list and can be cumbersome with a large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Week 3 we focused on the feature idea. Now we see scoping as a time budget and a dependency map. We would estimate each subsystem, specify its smallest usable version, and leave deliberate time for testing and UI.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Based on the team account: GenAI helped scope the initial structure, produce many tests, propose enemy and event names, refine UI, and suggest BattleContext as a way to group battle state. Team-designed work includes cards, the temperature mechanic, and core combat and balance decisions. In the talk, show one actual prompt and its output if the team has it; do not invent a prompt.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was useful for rapid drafting and refactoring, but its visual designs were often generic, it sometimes produced unnecessary code, and prompting consumed substantial time and tokens. We also used AI as a bridge into unfamiliar C# for a separate, playable mod prototype. In future work we would use AI for technical acceleration while retaining design and review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ea963db0a3483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8523a3622646b2" /><Relationship Type="http://schemas.openxmlformats.org/officeDocument/2006/relationships/slideLayout" Target="/ppt/slideLayouts/slideLayout1.xml" Id="R1403f47f356a476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403f47f356a476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7e2b7a5b0af4bdd" /><Relationship Type="http://schemas.openxmlformats.org/officeDocument/2006/relationships/notesSlide" Target="/ppt/notesSlides/notesSlide1.xml" Id="R3cb333b3e2d842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7c7ff4605834d42" /><Relationship Type="http://schemas.openxmlformats.org/officeDocument/2006/relationships/notesSlide" Target="/ppt/notesSlides/notesSlide2.xml" Id="R54e03696901c4f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2f03ef652f346c5" /><Relationship Type="http://schemas.openxmlformats.org/officeDocument/2006/relationships/image" Target="/ppt/media/image.png" Id="R501cbc47d0c5445d" /><Relationship Type="http://schemas.openxmlformats.org/officeDocument/2006/relationships/notesSlide" Target="/ppt/notesSlides/notesSlide3.xml" Id="Rfb9914d1057040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842330bac444b0f" /><Relationship Type="http://schemas.openxmlformats.org/officeDocument/2006/relationships/notesSlide" Target="/ppt/notesSlides/notesSlide4.xml" Id="Rf9220e3f76bd42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63e4dc278a54746" /><Relationship Type="http://schemas.openxmlformats.org/officeDocument/2006/relationships/notesSlide" Target="/ppt/notesSlides/notesSlide5.xml" Id="R2ee9e8f3a7ed46e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d402292fe8a41a2" /><Relationship Type="http://schemas.openxmlformats.org/officeDocument/2006/relationships/notesSlide" Target="/ppt/notesSlides/notesSlide6.xml" Id="Rf79111fdf7fc4ee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919668778ed4e4b" /><Relationship Type="http://schemas.openxmlformats.org/officeDocument/2006/relationships/notesSlide" Target="/ppt/notesSlides/notesSlide7.xml" Id="R723380af9fae478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127442778d54876" /><Relationship Type="http://schemas.openxmlformats.org/officeDocument/2006/relationships/notesSlide" Target="/ppt/notesSlides/notesSlide8.xml" Id="R0674159fe8c24fa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069f6b6df5f46fa" /><Relationship Type="http://schemas.openxmlformats.org/officeDocument/2006/relationships/notesSlide" Target="/ppt/notesSlides/notesSlide9.xml" Id="R37b745c2b93e414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0CF5428-43C3-4CF7-B338-059B9FE629F4}"/>
              </a:ext>
            </a:extLst>
          </p:cNvPr>
          <p:cNvSpPr>
            <a:spLocks xmlns:a="http://schemas.openxmlformats.org/drawingml/2006/main" noGrp="1"/>
          </p:cNvSpPr>
          <p:nvPr/>
        </p:nvSpPr>
        <p:spPr>
          <a:xfrm xmlns:a="http://schemas.openxmlformats.org/drawingml/2006/main">
            <a:off x="666750" y="2667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555"/>
                </a:solidFill>
                <a:latin typeface="Arial"/>
                <a:ea typeface="Arial"/>
                <a:cs typeface="Arial"/>
              </a:defRPr>
            </a:pPr>
            <a:r>
              <a:rPr sz="1275" b="1">
                <a:solidFill>
                  <a:srgbClr val="555555"/>
                </a:solidFill>
                <a:latin typeface="Arial"/>
                <a:ea typeface="Arial"/>
                <a:cs typeface="Arial"/>
              </a:rPr>
              <a:t>CS 2114 · FINAL BUILD AND PRESENTATION</a:t>
            </a:r>
          </a:p>
        </p:txBody>
      </p:sp>
      <p:sp>
        <p:nvSpPr>
          <p:cNvPr id="2" name="">
            <a:extLst xmlns:a="http://schemas.openxmlformats.org/drawingml/2006/main">
              <a:ext uri="{FF2B5EF4-FFF2-40B4-BE49-F238E27FC236}">
                <a16:creationId xmlns:a16="http://schemas.microsoft.com/office/drawing/2014/main" id="{11DE602E-E58E-4B7D-A776-160A640386AF}"/>
              </a:ext>
            </a:extLst>
          </p:cNvPr>
          <p:cNvSpPr>
            <a:spLocks xmlns:a="http://schemas.openxmlformats.org/drawingml/2006/main" noGrp="1"/>
          </p:cNvSpPr>
          <p:nvPr/>
        </p:nvSpPr>
        <p:spPr>
          <a:xfrm xmlns:a="http://schemas.openxmlformats.org/drawingml/2006/main">
            <a:off x="666750" y="685800"/>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1515"/>
                </a:solidFill>
                <a:latin typeface="Arial"/>
                <a:ea typeface="Arial"/>
                <a:cs typeface="Arial"/>
              </a:defRPr>
            </a:pPr>
            <a:r>
              <a:rPr sz="3150" b="1">
                <a:solidFill>
                  <a:srgbClr val="151515"/>
                </a:solidFill>
                <a:latin typeface="Arial"/>
                <a:ea typeface="Arial"/>
                <a:cs typeface="Arial"/>
              </a:rPr>
              <a:t>SlayVT</a:t>
            </a:r>
          </a:p>
        </p:txBody>
      </p:sp>
      <p:sp>
        <p:nvSpPr>
          <p:cNvPr id="3" name="">
            <a:extLst xmlns:a="http://schemas.openxmlformats.org/drawingml/2006/main">
              <a:ext uri="{FF2B5EF4-FFF2-40B4-BE49-F238E27FC236}">
                <a16:creationId xmlns:a16="http://schemas.microsoft.com/office/drawing/2014/main" id="{AC3442B5-BA56-4861-B3A6-E06A3DA68701}"/>
              </a:ext>
            </a:extLst>
          </p:cNvPr>
          <p:cNvSpPr>
            <a:spLocks xmlns:a="http://schemas.openxmlformats.org/drawingml/2006/main" noGrp="1"/>
          </p:cNvSpPr>
          <p:nvPr/>
        </p:nvSpPr>
        <p:spPr>
          <a:xfrm xmlns:a="http://schemas.openxmlformats.org/drawingml/2006/main">
            <a:off x="11049000" y="634365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55555"/>
                </a:solidFill>
                <a:latin typeface="Arial"/>
                <a:ea typeface="Arial"/>
                <a:cs typeface="Arial"/>
              </a:defRPr>
            </a:pPr>
            <a:r>
              <a:rPr sz="1200" b="0">
                <a:solidFill>
                  <a:srgbClr val="555555"/>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006BDE25-8E25-40BF-8FCB-52E92073D047}"/>
              </a:ext>
            </a:extLst>
          </p:cNvPr>
          <p:cNvSpPr>
            <a:spLocks xmlns:a="http://schemas.openxmlformats.org/drawingml/2006/main" noGrp="1"/>
          </p:cNvSpPr>
          <p:nvPr/>
        </p:nvSpPr>
        <p:spPr>
          <a:xfrm xmlns:a="http://schemas.openxmlformats.org/drawingml/2006/main">
            <a:off x="695325" y="20955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51515"/>
                </a:solidFill>
                <a:latin typeface="Arial"/>
                <a:ea typeface="Arial"/>
                <a:cs typeface="Arial"/>
              </a:defRPr>
            </a:pPr>
            <a:r>
              <a:rPr sz="2550" b="0">
                <a:solidFill>
                  <a:srgbClr val="151515"/>
                </a:solidFill>
                <a:latin typeface="Arial"/>
                <a:ea typeface="Arial"/>
                <a:cs typeface="Arial"/>
              </a:rPr>
              <a:t>A VT-themed deck-building strategy game</a:t>
            </a:r>
          </a:p>
        </p:txBody>
      </p:sp>
      <p:sp>
        <p:nvSpPr>
          <p:cNvPr id="5" name="">
            <a:extLst xmlns:a="http://schemas.openxmlformats.org/drawingml/2006/main">
              <a:ext uri="{FF2B5EF4-FFF2-40B4-BE49-F238E27FC236}">
                <a16:creationId xmlns:a16="http://schemas.microsoft.com/office/drawing/2014/main" id="{6E2BD981-393A-49AD-87E5-9E2F222B66F9}"/>
              </a:ext>
            </a:extLst>
          </p:cNvPr>
          <p:cNvSpPr>
            <a:spLocks xmlns:a="http://schemas.openxmlformats.org/drawingml/2006/main" noGrp="1"/>
          </p:cNvSpPr>
          <p:nvPr/>
        </p:nvSpPr>
        <p:spPr>
          <a:xfrm xmlns:a="http://schemas.openxmlformats.org/drawingml/2006/main">
            <a:off x="695325" y="3048000"/>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55555"/>
                </a:solidFill>
                <a:latin typeface="Arial"/>
                <a:ea typeface="Arial"/>
                <a:cs typeface="Arial"/>
              </a:defRPr>
            </a:pPr>
            <a:r>
              <a:rPr sz="2025" b="0">
                <a:solidFill>
                  <a:srgbClr val="555555"/>
                </a:solidFill>
                <a:latin typeface="Arial"/>
                <a:ea typeface="Arial"/>
                <a:cs typeface="Arial"/>
              </a:rPr>
              <a:t>Team presentation · 10-minute live demo</a:t>
            </a:r>
          </a:p>
        </p:txBody>
      </p:sp>
      <p:sp>
        <p:nvSpPr>
          <p:cNvPr id="6" name="">
            <a:extLst xmlns:a="http://schemas.openxmlformats.org/drawingml/2006/main">
              <a:ext uri="{FF2B5EF4-FFF2-40B4-BE49-F238E27FC236}">
                <a16:creationId xmlns:a16="http://schemas.microsoft.com/office/drawing/2014/main" id="{D54CF774-863E-4492-B5F7-9AABE7BDDF6A}"/>
              </a:ext>
            </a:extLst>
          </p:cNvPr>
          <p:cNvSpPr>
            <a:spLocks xmlns:a="http://schemas.openxmlformats.org/drawingml/2006/main" noGrp="1"/>
          </p:cNvSpPr>
          <p:nvPr/>
        </p:nvSpPr>
        <p:spPr>
          <a:xfrm xmlns:a="http://schemas.openxmlformats.org/drawingml/2006/main">
            <a:off x="695325" y="51625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1515"/>
                </a:solidFill>
                <a:latin typeface="Arial"/>
                <a:ea typeface="Arial"/>
                <a:cs typeface="Arial"/>
              </a:defRPr>
            </a:pPr>
            <a:r>
              <a:rPr sz="1800" b="0">
                <a:solidFill>
                  <a:srgbClr val="151515"/>
                </a:solidFill>
                <a:latin typeface="Arial"/>
                <a:ea typeface="Arial"/>
                <a:cs typeface="Arial"/>
              </a:rPr>
              <a:t>github.com/ultra-dog/SlayVT</a:t>
            </a:r>
          </a:p>
        </p:txBody>
      </p:sp>
    </p:spTree>
    <p:extLst>
      <p:ext uri="{BB962C8B-B14F-4D97-AF65-F5344CB8AC3E}">
        <p14:creationId xmlns:p14="http://schemas.microsoft.com/office/powerpoint/2010/main" val="208385868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1D51654-2DB2-4AD3-81B8-046DC0AC9DD6}"/>
              </a:ext>
            </a:extLst>
          </p:cNvPr>
          <p:cNvSpPr>
            <a:spLocks xmlns:a="http://schemas.openxmlformats.org/drawingml/2006/main" noGrp="1"/>
          </p:cNvSpPr>
          <p:nvPr/>
        </p:nvSpPr>
        <p:spPr>
          <a:xfrm xmlns:a="http://schemas.openxmlformats.org/drawingml/2006/main">
            <a:off x="666750" y="2667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555"/>
                </a:solidFill>
                <a:latin typeface="Arial"/>
                <a:ea typeface="Arial"/>
                <a:cs typeface="Arial"/>
              </a:defRPr>
            </a:pPr>
            <a:r>
              <a:rPr sz="1275" b="1">
                <a:solidFill>
                  <a:srgbClr val="555555"/>
                </a:solidFill>
                <a:latin typeface="Arial"/>
                <a:ea typeface="Arial"/>
                <a:cs typeface="Arial"/>
              </a:rPr>
              <a:t>1 · MVP</a:t>
            </a:r>
          </a:p>
        </p:txBody>
      </p:sp>
      <p:sp>
        <p:nvSpPr>
          <p:cNvPr id="2" name="">
            <a:extLst xmlns:a="http://schemas.openxmlformats.org/drawingml/2006/main">
              <a:ext uri="{FF2B5EF4-FFF2-40B4-BE49-F238E27FC236}">
                <a16:creationId xmlns:a16="http://schemas.microsoft.com/office/drawing/2014/main" id="{24835FBB-8E07-451F-B387-4737EA44A55E}"/>
              </a:ext>
            </a:extLst>
          </p:cNvPr>
          <p:cNvSpPr>
            <a:spLocks xmlns:a="http://schemas.openxmlformats.org/drawingml/2006/main" noGrp="1"/>
          </p:cNvSpPr>
          <p:nvPr/>
        </p:nvSpPr>
        <p:spPr>
          <a:xfrm xmlns:a="http://schemas.openxmlformats.org/drawingml/2006/main">
            <a:off x="666750" y="685800"/>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1515"/>
                </a:solidFill>
                <a:latin typeface="Arial"/>
                <a:ea typeface="Arial"/>
                <a:cs typeface="Arial"/>
              </a:defRPr>
            </a:pPr>
            <a:r>
              <a:rPr sz="3150" b="1">
                <a:solidFill>
                  <a:srgbClr val="151515"/>
                </a:solidFill>
                <a:latin typeface="Arial"/>
                <a:ea typeface="Arial"/>
                <a:cs typeface="Arial"/>
              </a:rPr>
              <a:t>What we built</a:t>
            </a:r>
          </a:p>
        </p:txBody>
      </p:sp>
      <p:sp>
        <p:nvSpPr>
          <p:cNvPr id="3" name="">
            <a:extLst xmlns:a="http://schemas.openxmlformats.org/drawingml/2006/main">
              <a:ext uri="{FF2B5EF4-FFF2-40B4-BE49-F238E27FC236}">
                <a16:creationId xmlns:a16="http://schemas.microsoft.com/office/drawing/2014/main" id="{D1DC9A59-5AFA-49FD-BB51-1419A1969F26}"/>
              </a:ext>
            </a:extLst>
          </p:cNvPr>
          <p:cNvSpPr>
            <a:spLocks xmlns:a="http://schemas.openxmlformats.org/drawingml/2006/main" noGrp="1"/>
          </p:cNvSpPr>
          <p:nvPr/>
        </p:nvSpPr>
        <p:spPr>
          <a:xfrm xmlns:a="http://schemas.openxmlformats.org/drawingml/2006/main">
            <a:off x="11049000" y="634365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55555"/>
                </a:solidFill>
                <a:latin typeface="Arial"/>
                <a:ea typeface="Arial"/>
                <a:cs typeface="Arial"/>
              </a:defRPr>
            </a:pPr>
            <a:r>
              <a:rPr sz="1200" b="0">
                <a:solidFill>
                  <a:srgbClr val="55555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74AD29C8-0F8C-424B-8B35-1069EA6EA90B}"/>
              </a:ext>
            </a:extLst>
          </p:cNvPr>
          <p:cNvSpPr>
            <a:spLocks xmlns:a="http://schemas.openxmlformats.org/drawingml/2006/main" noGrp="1"/>
          </p:cNvSpPr>
          <p:nvPr/>
        </p:nvSpPr>
        <p:spPr>
          <a:xfrm xmlns:a="http://schemas.openxmlformats.org/drawingml/2006/main">
            <a:off x="857250" y="1609725"/>
            <a:ext cx="104775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marL="292100" indent="-127000">
              <a:spcAft>
                <a:spcPts val="1900"/>
              </a:spcAft>
              <a:buChar char="•"/>
              <a:defRPr sz="2025" b="0">
                <a:solidFill>
                  <a:srgbClr val="151515"/>
                </a:solidFill>
                <a:latin typeface="Arial"/>
                <a:ea typeface="Arial"/>
                <a:cs typeface="Arial"/>
              </a:defRPr>
            </a:pPr>
            <a:r>
              <a:rPr sz="2025" b="0">
                <a:solidFill>
                  <a:srgbClr val="151515"/>
                </a:solidFill>
                <a:latin typeface="Arial"/>
                <a:ea typeface="Arial"/>
                <a:cs typeface="Arial"/>
              </a:rPr>
              <a:t>Build a deck across a 15-floor run</a:t>
            </a:r>
          </a:p>
          <a:p xmlns:a="http://schemas.openxmlformats.org/drawingml/2006/main">
            <a:pPr marL="292100" indent="-127000">
              <a:spcAft>
                <a:spcPts val="1900"/>
              </a:spcAft>
              <a:buChar char="•"/>
              <a:defRPr sz="2025" b="0">
                <a:solidFill>
                  <a:srgbClr val="151515"/>
                </a:solidFill>
                <a:latin typeface="Arial"/>
                <a:ea typeface="Arial"/>
                <a:cs typeface="Arial"/>
              </a:defRPr>
            </a:pPr>
            <a:r>
              <a:rPr sz="2025" b="0">
                <a:solidFill>
                  <a:srgbClr val="151515"/>
                </a:solidFill>
                <a:latin typeface="Arial"/>
                <a:ea typeface="Arial"/>
                <a:cs typeface="Arial"/>
              </a:rPr>
              <a:t>Spend limited Energy while reading enemy intent</a:t>
            </a:r>
          </a:p>
          <a:p xmlns:a="http://schemas.openxmlformats.org/drawingml/2006/main">
            <a:pPr marL="292100" indent="-127000">
              <a:spcAft>
                <a:spcPts val="1900"/>
              </a:spcAft>
              <a:buChar char="•"/>
              <a:defRPr sz="2025" b="0">
                <a:solidFill>
                  <a:srgbClr val="151515"/>
                </a:solidFill>
                <a:latin typeface="Arial"/>
                <a:ea typeface="Arial"/>
                <a:cs typeface="Arial"/>
              </a:defRPr>
            </a:pPr>
            <a:r>
              <a:rPr sz="2025" b="0">
                <a:solidFill>
                  <a:srgbClr val="151515"/>
                </a:solidFill>
                <a:latin typeface="Arial"/>
                <a:ea typeface="Arial"/>
                <a:cs typeface="Arial"/>
              </a:rPr>
              <a:t>Use Heat, Cold, and temperature reversal in combat</a:t>
            </a:r>
          </a:p>
          <a:p xmlns:a="http://schemas.openxmlformats.org/drawingml/2006/main">
            <a:pPr marL="292100" indent="-127000">
              <a:spcAft>
                <a:spcPts val="1900"/>
              </a:spcAft>
              <a:buChar char="•"/>
              <a:defRPr sz="2025" b="0">
                <a:solidFill>
                  <a:srgbClr val="151515"/>
                </a:solidFill>
                <a:latin typeface="Arial"/>
                <a:ea typeface="Arial"/>
                <a:cs typeface="Arial"/>
              </a:defRPr>
            </a:pPr>
            <a:r>
              <a:rPr sz="2025" b="0">
                <a:solidFill>
                  <a:srgbClr val="151515"/>
                </a:solidFill>
                <a:latin typeface="Arial"/>
                <a:ea typeface="Arial"/>
                <a:cs typeface="Arial"/>
              </a:rPr>
              <a:t>Choose events, shop purchases, and Rest Site upgrades</a:t>
            </a:r>
          </a:p>
          <a:p xmlns:a="http://schemas.openxmlformats.org/drawingml/2006/main">
            <a:pPr marL="292100" indent="-127000">
              <a:spcAft>
                <a:spcPts val="1900"/>
              </a:spcAft>
              <a:buChar char="•"/>
              <a:defRPr sz="2025" b="0">
                <a:solidFill>
                  <a:srgbClr val="151515"/>
                </a:solidFill>
                <a:latin typeface="Arial"/>
                <a:ea typeface="Arial"/>
                <a:cs typeface="Arial"/>
              </a:defRPr>
            </a:pPr>
            <a:r>
              <a:rPr sz="2025" b="0">
                <a:solidFill>
                  <a:srgbClr val="151515"/>
                </a:solidFill>
                <a:latin typeface="Arial"/>
                <a:ea typeface="Arial"/>
                <a:cs typeface="Arial"/>
              </a:rPr>
              <a:t>Defeat the final boss to finish the run</a:t>
            </a:r>
          </a:p>
        </p:txBody>
      </p:sp>
    </p:spTree>
    <p:extLst>
      <p:ext uri="{BB962C8B-B14F-4D97-AF65-F5344CB8AC3E}">
        <p14:creationId xmlns:p14="http://schemas.microsoft.com/office/powerpoint/2010/main" val="166586777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6BE43EF-8971-4867-AC36-6A7128FAC33B}"/>
              </a:ext>
            </a:extLst>
          </p:cNvPr>
          <p:cNvSpPr>
            <a:spLocks xmlns:a="http://schemas.openxmlformats.org/drawingml/2006/main" noGrp="1"/>
          </p:cNvSpPr>
          <p:nvPr/>
        </p:nvSpPr>
        <p:spPr>
          <a:xfrm xmlns:a="http://schemas.openxmlformats.org/drawingml/2006/main">
            <a:off x="666750" y="2667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555"/>
                </a:solidFill>
                <a:latin typeface="Arial"/>
                <a:ea typeface="Arial"/>
                <a:cs typeface="Arial"/>
              </a:defRPr>
            </a:pPr>
            <a:r>
              <a:rPr sz="1275" b="1">
                <a:solidFill>
                  <a:srgbClr val="555555"/>
                </a:solidFill>
                <a:latin typeface="Arial"/>
                <a:ea typeface="Arial"/>
                <a:cs typeface="Arial"/>
              </a:rPr>
              <a:t>1 · MVP</a:t>
            </a:r>
          </a:p>
        </p:txBody>
      </p:sp>
      <p:sp>
        <p:nvSpPr>
          <p:cNvPr id="2" name="">
            <a:extLst xmlns:a="http://schemas.openxmlformats.org/drawingml/2006/main">
              <a:ext uri="{FF2B5EF4-FFF2-40B4-BE49-F238E27FC236}">
                <a16:creationId xmlns:a16="http://schemas.microsoft.com/office/drawing/2014/main" id="{8D68B11F-4886-4447-9880-947244E9652A}"/>
              </a:ext>
            </a:extLst>
          </p:cNvPr>
          <p:cNvSpPr>
            <a:spLocks xmlns:a="http://schemas.openxmlformats.org/drawingml/2006/main" noGrp="1"/>
          </p:cNvSpPr>
          <p:nvPr/>
        </p:nvSpPr>
        <p:spPr>
          <a:xfrm xmlns:a="http://schemas.openxmlformats.org/drawingml/2006/main">
            <a:off x="666750" y="685800"/>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1515"/>
                </a:solidFill>
                <a:latin typeface="Arial"/>
                <a:ea typeface="Arial"/>
                <a:cs typeface="Arial"/>
              </a:defRPr>
            </a:pPr>
            <a:r>
              <a:rPr sz="3150" b="1">
                <a:solidFill>
                  <a:srgbClr val="151515"/>
                </a:solidFill>
                <a:latin typeface="Arial"/>
                <a:ea typeface="Arial"/>
                <a:cs typeface="Arial"/>
              </a:rPr>
              <a:t>System diagram</a:t>
            </a:r>
          </a:p>
        </p:txBody>
      </p:sp>
      <p:sp>
        <p:nvSpPr>
          <p:cNvPr id="3" name="">
            <a:extLst xmlns:a="http://schemas.openxmlformats.org/drawingml/2006/main">
              <a:ext uri="{FF2B5EF4-FFF2-40B4-BE49-F238E27FC236}">
                <a16:creationId xmlns:a16="http://schemas.microsoft.com/office/drawing/2014/main" id="{910AA1EE-A1C3-431B-83B7-1E60B7837983}"/>
              </a:ext>
            </a:extLst>
          </p:cNvPr>
          <p:cNvSpPr>
            <a:spLocks xmlns:a="http://schemas.openxmlformats.org/drawingml/2006/main" noGrp="1"/>
          </p:cNvSpPr>
          <p:nvPr/>
        </p:nvSpPr>
        <p:spPr>
          <a:xfrm xmlns:a="http://schemas.openxmlformats.org/drawingml/2006/main">
            <a:off x="11049000" y="634365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55555"/>
                </a:solidFill>
                <a:latin typeface="Arial"/>
                <a:ea typeface="Arial"/>
                <a:cs typeface="Arial"/>
              </a:defRPr>
            </a:pPr>
            <a:r>
              <a:rPr sz="1200" b="0">
                <a:solidFill>
                  <a:srgbClr val="555555"/>
                </a:solidFill>
                <a:latin typeface="Arial"/>
                <a:ea typeface="Arial"/>
                <a:cs typeface="Arial"/>
              </a:rPr>
              <a:t>03</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501cbc47d0c5445d"/>
          <a:stretch xmlns:a="http://schemas.openxmlformats.org/drawingml/2006/main"/>
        </p:blipFill>
        <p:spPr>
          <a:xfrm xmlns:a="http://schemas.openxmlformats.org/drawingml/2006/main">
            <a:off x="3077382" y="1381125"/>
            <a:ext cx="6018186" cy="5048250"/>
          </a:xfrm>
          <a:prstGeom xmlns:a="http://schemas.openxmlformats.org/drawingml/2006/main" prst="rect">
            <a:avLst/>
          </a:prstGeom>
        </p:spPr>
      </p:pic>
    </p:spTree>
    <p:extLst>
      <p:ext uri="{BB962C8B-B14F-4D97-AF65-F5344CB8AC3E}">
        <p14:creationId xmlns:p14="http://schemas.microsoft.com/office/powerpoint/2010/main" val="73746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1BF34FC-6C0C-4168-9DA6-6672ECB5AAF2}"/>
              </a:ext>
            </a:extLst>
          </p:cNvPr>
          <p:cNvSpPr>
            <a:spLocks xmlns:a="http://schemas.openxmlformats.org/drawingml/2006/main" noGrp="1"/>
          </p:cNvSpPr>
          <p:nvPr/>
        </p:nvSpPr>
        <p:spPr>
          <a:xfrm xmlns:a="http://schemas.openxmlformats.org/drawingml/2006/main">
            <a:off x="666750" y="2667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555"/>
                </a:solidFill>
                <a:latin typeface="Arial"/>
                <a:ea typeface="Arial"/>
                <a:cs typeface="Arial"/>
              </a:defRPr>
            </a:pPr>
            <a:r>
              <a:rPr sz="1275" b="1">
                <a:solidFill>
                  <a:srgbClr val="555555"/>
                </a:solidFill>
                <a:latin typeface="Arial"/>
                <a:ea typeface="Arial"/>
                <a:cs typeface="Arial"/>
              </a:rPr>
              <a:t>1 · MVP</a:t>
            </a:r>
          </a:p>
        </p:txBody>
      </p:sp>
      <p:sp>
        <p:nvSpPr>
          <p:cNvPr id="2" name="">
            <a:extLst xmlns:a="http://schemas.openxmlformats.org/drawingml/2006/main">
              <a:ext uri="{FF2B5EF4-FFF2-40B4-BE49-F238E27FC236}">
                <a16:creationId xmlns:a16="http://schemas.microsoft.com/office/drawing/2014/main" id="{B8FFB335-4221-4A00-B272-5BC481455CCA}"/>
              </a:ext>
            </a:extLst>
          </p:cNvPr>
          <p:cNvSpPr>
            <a:spLocks xmlns:a="http://schemas.openxmlformats.org/drawingml/2006/main" noGrp="1"/>
          </p:cNvSpPr>
          <p:nvPr/>
        </p:nvSpPr>
        <p:spPr>
          <a:xfrm xmlns:a="http://schemas.openxmlformats.org/drawingml/2006/main">
            <a:off x="666750" y="685800"/>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1515"/>
                </a:solidFill>
                <a:latin typeface="Arial"/>
                <a:ea typeface="Arial"/>
                <a:cs typeface="Arial"/>
              </a:defRPr>
            </a:pPr>
            <a:r>
              <a:rPr sz="3150" b="1">
                <a:solidFill>
                  <a:srgbClr val="151515"/>
                </a:solidFill>
                <a:latin typeface="Arial"/>
                <a:ea typeface="Arial"/>
                <a:cs typeface="Arial"/>
              </a:rPr>
              <a:t>Spec changes and stretch goals</a:t>
            </a:r>
          </a:p>
        </p:txBody>
      </p:sp>
      <p:sp>
        <p:nvSpPr>
          <p:cNvPr id="3" name="">
            <a:extLst xmlns:a="http://schemas.openxmlformats.org/drawingml/2006/main">
              <a:ext uri="{FF2B5EF4-FFF2-40B4-BE49-F238E27FC236}">
                <a16:creationId xmlns:a16="http://schemas.microsoft.com/office/drawing/2014/main" id="{CBDF8961-213E-40E5-A28D-ED14B58BDA24}"/>
              </a:ext>
            </a:extLst>
          </p:cNvPr>
          <p:cNvSpPr>
            <a:spLocks xmlns:a="http://schemas.openxmlformats.org/drawingml/2006/main" noGrp="1"/>
          </p:cNvSpPr>
          <p:nvPr/>
        </p:nvSpPr>
        <p:spPr>
          <a:xfrm xmlns:a="http://schemas.openxmlformats.org/drawingml/2006/main">
            <a:off x="11049000" y="634365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55555"/>
                </a:solidFill>
                <a:latin typeface="Arial"/>
                <a:ea typeface="Arial"/>
                <a:cs typeface="Arial"/>
              </a:defRPr>
            </a:pPr>
            <a:r>
              <a:rPr sz="1200" b="0">
                <a:solidFill>
                  <a:srgbClr val="55555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CF52C2EF-23F2-4900-8253-2F6521BC9881}"/>
              </a:ext>
            </a:extLst>
          </p:cNvPr>
          <p:cNvSpPr>
            <a:spLocks xmlns:a="http://schemas.openxmlformats.org/drawingml/2006/main" noGrp="1"/>
          </p:cNvSpPr>
          <p:nvPr/>
        </p:nvSpPr>
        <p:spPr>
          <a:xfrm xmlns:a="http://schemas.openxmlformats.org/drawingml/2006/main">
            <a:off x="857250" y="1752600"/>
            <a:ext cx="104775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Cut relics and potions to protect the core game loop</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Shipped fewer cards and events than planned</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Original team-designed cards and temperature mechanic</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Future goal: refine and adapt the concept as a mod</a:t>
            </a:r>
          </a:p>
        </p:txBody>
      </p:sp>
    </p:spTree>
    <p:extLst>
      <p:ext uri="{BB962C8B-B14F-4D97-AF65-F5344CB8AC3E}">
        <p14:creationId xmlns:p14="http://schemas.microsoft.com/office/powerpoint/2010/main" val="154344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AB5A7C7-4921-4C35-A351-DCDCFAD7CB34}"/>
              </a:ext>
            </a:extLst>
          </p:cNvPr>
          <p:cNvSpPr>
            <a:spLocks xmlns:a="http://schemas.openxmlformats.org/drawingml/2006/main" noGrp="1"/>
          </p:cNvSpPr>
          <p:nvPr/>
        </p:nvSpPr>
        <p:spPr>
          <a:xfrm xmlns:a="http://schemas.openxmlformats.org/drawingml/2006/main">
            <a:off x="666750" y="2667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555"/>
                </a:solidFill>
                <a:latin typeface="Arial"/>
                <a:ea typeface="Arial"/>
                <a:cs typeface="Arial"/>
              </a:defRPr>
            </a:pPr>
            <a:r>
              <a:rPr sz="1275" b="1">
                <a:solidFill>
                  <a:srgbClr val="555555"/>
                </a:solidFill>
                <a:latin typeface="Arial"/>
                <a:ea typeface="Arial"/>
                <a:cs typeface="Arial"/>
              </a:rPr>
              <a:t>2 · DEMO</a:t>
            </a:r>
          </a:p>
        </p:txBody>
      </p:sp>
      <p:sp>
        <p:nvSpPr>
          <p:cNvPr id="2" name="">
            <a:extLst xmlns:a="http://schemas.openxmlformats.org/drawingml/2006/main">
              <a:ext uri="{FF2B5EF4-FFF2-40B4-BE49-F238E27FC236}">
                <a16:creationId xmlns:a16="http://schemas.microsoft.com/office/drawing/2014/main" id="{C2C55419-3D5B-4EC7-8913-97B0C9A4E460}"/>
              </a:ext>
            </a:extLst>
          </p:cNvPr>
          <p:cNvSpPr>
            <a:spLocks xmlns:a="http://schemas.openxmlformats.org/drawingml/2006/main" noGrp="1"/>
          </p:cNvSpPr>
          <p:nvPr/>
        </p:nvSpPr>
        <p:spPr>
          <a:xfrm xmlns:a="http://schemas.openxmlformats.org/drawingml/2006/main">
            <a:off x="666750" y="685800"/>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1515"/>
                </a:solidFill>
                <a:latin typeface="Arial"/>
                <a:ea typeface="Arial"/>
                <a:cs typeface="Arial"/>
              </a:defRPr>
            </a:pPr>
            <a:r>
              <a:rPr sz="3150" b="1">
                <a:solidFill>
                  <a:srgbClr val="151515"/>
                </a:solidFill>
                <a:latin typeface="Arial"/>
                <a:ea typeface="Arial"/>
                <a:cs typeface="Arial"/>
              </a:rPr>
              <a:t>Live demo</a:t>
            </a:r>
          </a:p>
        </p:txBody>
      </p:sp>
      <p:sp>
        <p:nvSpPr>
          <p:cNvPr id="3" name="">
            <a:extLst xmlns:a="http://schemas.openxmlformats.org/drawingml/2006/main">
              <a:ext uri="{FF2B5EF4-FFF2-40B4-BE49-F238E27FC236}">
                <a16:creationId xmlns:a16="http://schemas.microsoft.com/office/drawing/2014/main" id="{A00071E2-686B-40D5-8F0D-42A0279BD268}"/>
              </a:ext>
            </a:extLst>
          </p:cNvPr>
          <p:cNvSpPr>
            <a:spLocks xmlns:a="http://schemas.openxmlformats.org/drawingml/2006/main" noGrp="1"/>
          </p:cNvSpPr>
          <p:nvPr/>
        </p:nvSpPr>
        <p:spPr>
          <a:xfrm xmlns:a="http://schemas.openxmlformats.org/drawingml/2006/main">
            <a:off x="11049000" y="634365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55555"/>
                </a:solidFill>
                <a:latin typeface="Arial"/>
                <a:ea typeface="Arial"/>
                <a:cs typeface="Arial"/>
              </a:defRPr>
            </a:pPr>
            <a:r>
              <a:rPr sz="1200" b="0">
                <a:solidFill>
                  <a:srgbClr val="55555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0FAB9EF5-3533-4CAA-960A-881F9CD820FC}"/>
              </a:ext>
            </a:extLst>
          </p:cNvPr>
          <p:cNvSpPr>
            <a:spLocks xmlns:a="http://schemas.openxmlformats.org/drawingml/2006/main" noGrp="1"/>
          </p:cNvSpPr>
          <p:nvPr/>
        </p:nvSpPr>
        <p:spPr>
          <a:xfrm xmlns:a="http://schemas.openxmlformats.org/drawingml/2006/main">
            <a:off x="857250" y="1752600"/>
            <a:ext cx="104775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Start a short run in Test Mode</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Show enemy intent, Energy, and card choices</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Trigger a temperature reversal</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Visit an event or Rest Site</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Enter an invalid menu choice and show recovery</a:t>
            </a:r>
          </a:p>
        </p:txBody>
      </p:sp>
    </p:spTree>
    <p:extLst>
      <p:ext uri="{BB962C8B-B14F-4D97-AF65-F5344CB8AC3E}">
        <p14:creationId xmlns:p14="http://schemas.microsoft.com/office/powerpoint/2010/main" val="14451022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72EC9E2-0C77-4A0F-A954-A25234564497}"/>
              </a:ext>
            </a:extLst>
          </p:cNvPr>
          <p:cNvSpPr>
            <a:spLocks xmlns:a="http://schemas.openxmlformats.org/drawingml/2006/main" noGrp="1"/>
          </p:cNvSpPr>
          <p:nvPr/>
        </p:nvSpPr>
        <p:spPr>
          <a:xfrm xmlns:a="http://schemas.openxmlformats.org/drawingml/2006/main">
            <a:off x="666750" y="2667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555"/>
                </a:solidFill>
                <a:latin typeface="Arial"/>
                <a:ea typeface="Arial"/>
                <a:cs typeface="Arial"/>
              </a:defRPr>
            </a:pPr>
            <a:r>
              <a:rPr sz="1275" b="1">
                <a:solidFill>
                  <a:srgbClr val="555555"/>
                </a:solidFill>
                <a:latin typeface="Arial"/>
                <a:ea typeface="Arial"/>
                <a:cs typeface="Arial"/>
              </a:rPr>
              <a:t>3 · REFLECTION</a:t>
            </a:r>
          </a:p>
        </p:txBody>
      </p:sp>
      <p:sp>
        <p:nvSpPr>
          <p:cNvPr id="2" name="">
            <a:extLst xmlns:a="http://schemas.openxmlformats.org/drawingml/2006/main">
              <a:ext uri="{FF2B5EF4-FFF2-40B4-BE49-F238E27FC236}">
                <a16:creationId xmlns:a16="http://schemas.microsoft.com/office/drawing/2014/main" id="{7EFAE596-1EC5-4695-A98E-F5D5883B7F0C}"/>
              </a:ext>
            </a:extLst>
          </p:cNvPr>
          <p:cNvSpPr>
            <a:spLocks xmlns:a="http://schemas.openxmlformats.org/drawingml/2006/main" noGrp="1"/>
          </p:cNvSpPr>
          <p:nvPr/>
        </p:nvSpPr>
        <p:spPr>
          <a:xfrm xmlns:a="http://schemas.openxmlformats.org/drawingml/2006/main">
            <a:off x="666750" y="685800"/>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1515"/>
                </a:solidFill>
                <a:latin typeface="Arial"/>
                <a:ea typeface="Arial"/>
                <a:cs typeface="Arial"/>
              </a:defRPr>
            </a:pPr>
            <a:r>
              <a:rPr sz="3150" b="1">
                <a:solidFill>
                  <a:srgbClr val="151515"/>
                </a:solidFill>
                <a:latin typeface="Arial"/>
                <a:ea typeface="Arial"/>
                <a:cs typeface="Arial"/>
              </a:rPr>
              <a:t>What was harder than expected</a:t>
            </a:r>
          </a:p>
        </p:txBody>
      </p:sp>
      <p:sp>
        <p:nvSpPr>
          <p:cNvPr id="3" name="">
            <a:extLst xmlns:a="http://schemas.openxmlformats.org/drawingml/2006/main">
              <a:ext uri="{FF2B5EF4-FFF2-40B4-BE49-F238E27FC236}">
                <a16:creationId xmlns:a16="http://schemas.microsoft.com/office/drawing/2014/main" id="{7617DABF-9E33-4F54-9B72-460BF857948C}"/>
              </a:ext>
            </a:extLst>
          </p:cNvPr>
          <p:cNvSpPr>
            <a:spLocks xmlns:a="http://schemas.openxmlformats.org/drawingml/2006/main" noGrp="1"/>
          </p:cNvSpPr>
          <p:nvPr/>
        </p:nvSpPr>
        <p:spPr>
          <a:xfrm xmlns:a="http://schemas.openxmlformats.org/drawingml/2006/main">
            <a:off x="11049000" y="634365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55555"/>
                </a:solidFill>
                <a:latin typeface="Arial"/>
                <a:ea typeface="Arial"/>
                <a:cs typeface="Arial"/>
              </a:defRPr>
            </a:pPr>
            <a:r>
              <a:rPr sz="1200" b="0">
                <a:solidFill>
                  <a:srgbClr val="55555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77322D76-6210-4379-8CC4-2E9DAA4EA2F8}"/>
              </a:ext>
            </a:extLst>
          </p:cNvPr>
          <p:cNvSpPr>
            <a:spLocks xmlns:a="http://schemas.openxmlformats.org/drawingml/2006/main" noGrp="1"/>
          </p:cNvSpPr>
          <p:nvPr/>
        </p:nvSpPr>
        <p:spPr>
          <a:xfrm xmlns:a="http://schemas.openxmlformats.org/drawingml/2006/main">
            <a:off x="857250" y="1876425"/>
            <a:ext cx="104775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Scope → spec: “one room” hides several responsibilities</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Spec → code: every upgradeable card needs upgraded behavior</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Rest Site selection works, but a long deck is tedious to scroll</a:t>
            </a:r>
          </a:p>
        </p:txBody>
      </p:sp>
    </p:spTree>
    <p:extLst>
      <p:ext uri="{BB962C8B-B14F-4D97-AF65-F5344CB8AC3E}">
        <p14:creationId xmlns:p14="http://schemas.microsoft.com/office/powerpoint/2010/main" val="178384557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D845B41-04AC-4C0D-8D3A-97500AEF4891}"/>
              </a:ext>
            </a:extLst>
          </p:cNvPr>
          <p:cNvSpPr>
            <a:spLocks xmlns:a="http://schemas.openxmlformats.org/drawingml/2006/main" noGrp="1"/>
          </p:cNvSpPr>
          <p:nvPr/>
        </p:nvSpPr>
        <p:spPr>
          <a:xfrm xmlns:a="http://schemas.openxmlformats.org/drawingml/2006/main">
            <a:off x="666750" y="2667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555"/>
                </a:solidFill>
                <a:latin typeface="Arial"/>
                <a:ea typeface="Arial"/>
                <a:cs typeface="Arial"/>
              </a:defRPr>
            </a:pPr>
            <a:r>
              <a:rPr sz="1275" b="1">
                <a:solidFill>
                  <a:srgbClr val="555555"/>
                </a:solidFill>
                <a:latin typeface="Arial"/>
                <a:ea typeface="Arial"/>
                <a:cs typeface="Arial"/>
              </a:rPr>
              <a:t>3 · REFLECTION</a:t>
            </a:r>
          </a:p>
        </p:txBody>
      </p:sp>
      <p:sp>
        <p:nvSpPr>
          <p:cNvPr id="2" name="">
            <a:extLst xmlns:a="http://schemas.openxmlformats.org/drawingml/2006/main">
              <a:ext uri="{FF2B5EF4-FFF2-40B4-BE49-F238E27FC236}">
                <a16:creationId xmlns:a16="http://schemas.microsoft.com/office/drawing/2014/main" id="{27B9727A-9858-4911-8EEE-9A012478FACA}"/>
              </a:ext>
            </a:extLst>
          </p:cNvPr>
          <p:cNvSpPr>
            <a:spLocks xmlns:a="http://schemas.openxmlformats.org/drawingml/2006/main" noGrp="1"/>
          </p:cNvSpPr>
          <p:nvPr/>
        </p:nvSpPr>
        <p:spPr>
          <a:xfrm xmlns:a="http://schemas.openxmlformats.org/drawingml/2006/main">
            <a:off x="666750" y="685800"/>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1515"/>
                </a:solidFill>
                <a:latin typeface="Arial"/>
                <a:ea typeface="Arial"/>
                <a:cs typeface="Arial"/>
              </a:defRPr>
            </a:pPr>
            <a:r>
              <a:rPr sz="3150" b="1">
                <a:solidFill>
                  <a:srgbClr val="151515"/>
                </a:solidFill>
                <a:latin typeface="Arial"/>
                <a:ea typeface="Arial"/>
                <a:cs typeface="Arial"/>
              </a:rPr>
              <a:t>How our view of scoping changed</a:t>
            </a:r>
          </a:p>
        </p:txBody>
      </p:sp>
      <p:sp>
        <p:nvSpPr>
          <p:cNvPr id="3" name="">
            <a:extLst xmlns:a="http://schemas.openxmlformats.org/drawingml/2006/main">
              <a:ext uri="{FF2B5EF4-FFF2-40B4-BE49-F238E27FC236}">
                <a16:creationId xmlns:a16="http://schemas.microsoft.com/office/drawing/2014/main" id="{2DE1193D-9AB0-4783-8033-A9AD3B955394}"/>
              </a:ext>
            </a:extLst>
          </p:cNvPr>
          <p:cNvSpPr>
            <a:spLocks xmlns:a="http://schemas.openxmlformats.org/drawingml/2006/main" noGrp="1"/>
          </p:cNvSpPr>
          <p:nvPr/>
        </p:nvSpPr>
        <p:spPr>
          <a:xfrm xmlns:a="http://schemas.openxmlformats.org/drawingml/2006/main">
            <a:off x="11049000" y="634365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55555"/>
                </a:solidFill>
                <a:latin typeface="Arial"/>
                <a:ea typeface="Arial"/>
                <a:cs typeface="Arial"/>
              </a:defRPr>
            </a:pPr>
            <a:r>
              <a:rPr sz="1200" b="0">
                <a:solidFill>
                  <a:srgbClr val="55555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96E6981F-D77F-4033-9710-439395419A33}"/>
              </a:ext>
            </a:extLst>
          </p:cNvPr>
          <p:cNvSpPr>
            <a:spLocks xmlns:a="http://schemas.openxmlformats.org/drawingml/2006/main" noGrp="1"/>
          </p:cNvSpPr>
          <p:nvPr/>
        </p:nvSpPr>
        <p:spPr>
          <a:xfrm xmlns:a="http://schemas.openxmlformats.org/drawingml/2006/main">
            <a:off x="857250" y="1809750"/>
            <a:ext cx="104775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Estimate effort per subsystem, not just per feature</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Define the smallest playable version first</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Reserve time for integration, testing, and UI</a:t>
            </a:r>
          </a:p>
          <a:p xmlns:a="http://schemas.openxmlformats.org/drawingml/2006/main">
            <a:pPr marL="292100" indent="-127000">
              <a:spcAft>
                <a:spcPts val="1900"/>
              </a:spcAft>
              <a:buChar char="•"/>
              <a:defRPr sz="2175" b="0">
                <a:solidFill>
                  <a:srgbClr val="151515"/>
                </a:solidFill>
                <a:latin typeface="Arial"/>
                <a:ea typeface="Arial"/>
                <a:cs typeface="Arial"/>
              </a:defRPr>
            </a:pPr>
            <a:r>
              <a:rPr sz="2175" b="0">
                <a:solidFill>
                  <a:srgbClr val="151515"/>
                </a:solidFill>
                <a:latin typeface="Arial"/>
                <a:ea typeface="Arial"/>
                <a:cs typeface="Arial"/>
              </a:rPr>
              <a:t>Cut lower-priority features before they threaten the core loop</a:t>
            </a:r>
          </a:p>
        </p:txBody>
      </p:sp>
    </p:spTree>
    <p:extLst>
      <p:ext uri="{BB962C8B-B14F-4D97-AF65-F5344CB8AC3E}">
        <p14:creationId xmlns:p14="http://schemas.microsoft.com/office/powerpoint/2010/main" val="163962035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8357D3D-BB05-40ED-AAF4-C991466097C1}"/>
              </a:ext>
            </a:extLst>
          </p:cNvPr>
          <p:cNvSpPr>
            <a:spLocks xmlns:a="http://schemas.openxmlformats.org/drawingml/2006/main" noGrp="1"/>
          </p:cNvSpPr>
          <p:nvPr/>
        </p:nvSpPr>
        <p:spPr>
          <a:xfrm xmlns:a="http://schemas.openxmlformats.org/drawingml/2006/main">
            <a:off x="666750" y="2667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555"/>
                </a:solidFill>
                <a:latin typeface="Arial"/>
                <a:ea typeface="Arial"/>
                <a:cs typeface="Arial"/>
              </a:defRPr>
            </a:pPr>
            <a:r>
              <a:rPr sz="1275" b="1">
                <a:solidFill>
                  <a:srgbClr val="555555"/>
                </a:solidFill>
                <a:latin typeface="Arial"/>
                <a:ea typeface="Arial"/>
                <a:cs typeface="Arial"/>
              </a:rPr>
              <a:t>4 · GENAI REFLECTION</a:t>
            </a:r>
          </a:p>
        </p:txBody>
      </p:sp>
      <p:sp>
        <p:nvSpPr>
          <p:cNvPr id="2" name="">
            <a:extLst xmlns:a="http://schemas.openxmlformats.org/drawingml/2006/main">
              <a:ext uri="{FF2B5EF4-FFF2-40B4-BE49-F238E27FC236}">
                <a16:creationId xmlns:a16="http://schemas.microsoft.com/office/drawing/2014/main" id="{6D1D5470-4779-4009-A82F-97C414541D37}"/>
              </a:ext>
            </a:extLst>
          </p:cNvPr>
          <p:cNvSpPr>
            <a:spLocks xmlns:a="http://schemas.openxmlformats.org/drawingml/2006/main" noGrp="1"/>
          </p:cNvSpPr>
          <p:nvPr/>
        </p:nvSpPr>
        <p:spPr>
          <a:xfrm xmlns:a="http://schemas.openxmlformats.org/drawingml/2006/main">
            <a:off x="666750" y="685800"/>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1515"/>
                </a:solidFill>
                <a:latin typeface="Arial"/>
                <a:ea typeface="Arial"/>
                <a:cs typeface="Arial"/>
              </a:defRPr>
            </a:pPr>
            <a:r>
              <a:rPr sz="3150" b="1">
                <a:solidFill>
                  <a:srgbClr val="151515"/>
                </a:solidFill>
                <a:latin typeface="Arial"/>
                <a:ea typeface="Arial"/>
                <a:cs typeface="Arial"/>
              </a:rPr>
              <a:t>How we used GenAI</a:t>
            </a:r>
          </a:p>
        </p:txBody>
      </p:sp>
      <p:sp>
        <p:nvSpPr>
          <p:cNvPr id="3" name="">
            <a:extLst xmlns:a="http://schemas.openxmlformats.org/drawingml/2006/main">
              <a:ext uri="{FF2B5EF4-FFF2-40B4-BE49-F238E27FC236}">
                <a16:creationId xmlns:a16="http://schemas.microsoft.com/office/drawing/2014/main" id="{1FDBB3D1-3C0F-4433-9969-414C952A9192}"/>
              </a:ext>
            </a:extLst>
          </p:cNvPr>
          <p:cNvSpPr>
            <a:spLocks xmlns:a="http://schemas.openxmlformats.org/drawingml/2006/main" noGrp="1"/>
          </p:cNvSpPr>
          <p:nvPr/>
        </p:nvSpPr>
        <p:spPr>
          <a:xfrm xmlns:a="http://schemas.openxmlformats.org/drawingml/2006/main">
            <a:off x="11049000" y="634365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55555"/>
                </a:solidFill>
                <a:latin typeface="Arial"/>
                <a:ea typeface="Arial"/>
                <a:cs typeface="Arial"/>
              </a:defRPr>
            </a:pPr>
            <a:r>
              <a:rPr sz="1200" b="0">
                <a:solidFill>
                  <a:srgbClr val="55555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263E21A8-6B02-4401-9CD1-80D02537DDCF}"/>
              </a:ext>
            </a:extLst>
          </p:cNvPr>
          <p:cNvSpPr>
            <a:spLocks xmlns:a="http://schemas.openxmlformats.org/drawingml/2006/main" noGrp="1"/>
          </p:cNvSpPr>
          <p:nvPr/>
        </p:nvSpPr>
        <p:spPr>
          <a:xfrm xmlns:a="http://schemas.openxmlformats.org/drawingml/2006/main">
            <a:off x="857250" y="1743075"/>
            <a:ext cx="104775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marL="292100" indent="-127000">
              <a:spcAft>
                <a:spcPts val="1900"/>
              </a:spcAft>
              <a:buChar char="•"/>
              <a:defRPr sz="2025" b="0">
                <a:solidFill>
                  <a:srgbClr val="151515"/>
                </a:solidFill>
                <a:latin typeface="Arial"/>
                <a:ea typeface="Arial"/>
                <a:cs typeface="Arial"/>
              </a:defRPr>
            </a:pPr>
            <a:r>
              <a:rPr sz="2025" b="0">
                <a:solidFill>
                  <a:srgbClr val="151515"/>
                </a:solidFill>
                <a:latin typeface="Arial"/>
                <a:ea typeface="Arial"/>
                <a:cs typeface="Arial"/>
              </a:rPr>
              <a:t>AI assisted with structure, tests, names, and UI ideas</a:t>
            </a:r>
          </a:p>
          <a:p xmlns:a="http://schemas.openxmlformats.org/drawingml/2006/main">
            <a:pPr marL="292100" indent="-127000">
              <a:spcAft>
                <a:spcPts val="1900"/>
              </a:spcAft>
              <a:buChar char="•"/>
              <a:defRPr sz="2025" b="0">
                <a:solidFill>
                  <a:srgbClr val="151515"/>
                </a:solidFill>
                <a:latin typeface="Arial"/>
                <a:ea typeface="Arial"/>
                <a:cs typeface="Arial"/>
              </a:defRPr>
            </a:pPr>
            <a:r>
              <a:rPr sz="2025" b="0">
                <a:solidFill>
                  <a:srgbClr val="151515"/>
                </a:solidFill>
                <a:latin typeface="Arial"/>
                <a:ea typeface="Arial"/>
                <a:cs typeface="Arial"/>
              </a:rPr>
              <a:t>Example output: BattleContext groups battle state</a:t>
            </a:r>
          </a:p>
          <a:p xmlns:a="http://schemas.openxmlformats.org/drawingml/2006/main">
            <a:pPr marL="292100" indent="-127000">
              <a:spcAft>
                <a:spcPts val="1900"/>
              </a:spcAft>
              <a:buChar char="•"/>
              <a:defRPr sz="2025" b="0">
                <a:solidFill>
                  <a:srgbClr val="151515"/>
                </a:solidFill>
                <a:latin typeface="Arial"/>
                <a:ea typeface="Arial"/>
                <a:cs typeface="Arial"/>
              </a:defRPr>
            </a:pPr>
            <a:r>
              <a:rPr sz="2025" b="0">
                <a:solidFill>
                  <a:srgbClr val="151515"/>
                </a:solidFill>
                <a:latin typeface="Arial"/>
                <a:ea typeface="Arial"/>
                <a:cs typeface="Arial"/>
              </a:rPr>
              <a:t>Team-designed: cards, temperature, and combat decisions</a:t>
            </a:r>
          </a:p>
          <a:p xmlns:a="http://schemas.openxmlformats.org/drawingml/2006/main">
            <a:pPr marL="292100" indent="-127000">
              <a:spcAft>
                <a:spcPts val="1900"/>
              </a:spcAft>
              <a:buChar char="•"/>
              <a:defRPr sz="2025" b="0">
                <a:solidFill>
                  <a:srgbClr val="151515"/>
                </a:solidFill>
                <a:latin typeface="Arial"/>
                <a:ea typeface="Arial"/>
                <a:cs typeface="Arial"/>
              </a:defRPr>
            </a:pPr>
            <a:r>
              <a:rPr sz="2025" b="0">
                <a:solidFill>
                  <a:srgbClr val="151515"/>
                </a:solidFill>
                <a:latin typeface="Arial"/>
                <a:ea typeface="Arial"/>
                <a:cs typeface="Arial"/>
              </a:rPr>
              <a:t>Show one real prompt → output during the talk, if available</a:t>
            </a:r>
          </a:p>
        </p:txBody>
      </p:sp>
    </p:spTree>
    <p:extLst>
      <p:ext uri="{BB962C8B-B14F-4D97-AF65-F5344CB8AC3E}">
        <p14:creationId xmlns:p14="http://schemas.microsoft.com/office/powerpoint/2010/main" val="180010003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387C443-DF88-4E9B-B205-159BAD76A258}"/>
              </a:ext>
            </a:extLst>
          </p:cNvPr>
          <p:cNvSpPr>
            <a:spLocks xmlns:a="http://schemas.openxmlformats.org/drawingml/2006/main" noGrp="1"/>
          </p:cNvSpPr>
          <p:nvPr/>
        </p:nvSpPr>
        <p:spPr>
          <a:xfrm xmlns:a="http://schemas.openxmlformats.org/drawingml/2006/main">
            <a:off x="666750" y="2667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555"/>
                </a:solidFill>
                <a:latin typeface="Arial"/>
                <a:ea typeface="Arial"/>
                <a:cs typeface="Arial"/>
              </a:defRPr>
            </a:pPr>
            <a:r>
              <a:rPr sz="1275" b="1">
                <a:solidFill>
                  <a:srgbClr val="555555"/>
                </a:solidFill>
                <a:latin typeface="Arial"/>
                <a:ea typeface="Arial"/>
                <a:cs typeface="Arial"/>
              </a:rPr>
              <a:t>4 · GENAI REFLECTION</a:t>
            </a:r>
          </a:p>
        </p:txBody>
      </p:sp>
      <p:sp>
        <p:nvSpPr>
          <p:cNvPr id="2" name="">
            <a:extLst xmlns:a="http://schemas.openxmlformats.org/drawingml/2006/main">
              <a:ext uri="{FF2B5EF4-FFF2-40B4-BE49-F238E27FC236}">
                <a16:creationId xmlns:a16="http://schemas.microsoft.com/office/drawing/2014/main" id="{C4DFD1F4-E27B-457A-9DD1-19D6A66E104B}"/>
              </a:ext>
            </a:extLst>
          </p:cNvPr>
          <p:cNvSpPr>
            <a:spLocks xmlns:a="http://schemas.openxmlformats.org/drawingml/2006/main" noGrp="1"/>
          </p:cNvSpPr>
          <p:nvPr/>
        </p:nvSpPr>
        <p:spPr>
          <a:xfrm xmlns:a="http://schemas.openxmlformats.org/drawingml/2006/main">
            <a:off x="666750" y="685800"/>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1515"/>
                </a:solidFill>
                <a:latin typeface="Arial"/>
                <a:ea typeface="Arial"/>
                <a:cs typeface="Arial"/>
              </a:defRPr>
            </a:pPr>
            <a:r>
              <a:rPr sz="3150" b="1">
                <a:solidFill>
                  <a:srgbClr val="151515"/>
                </a:solidFill>
                <a:latin typeface="Arial"/>
                <a:ea typeface="Arial"/>
                <a:cs typeface="Arial"/>
              </a:rPr>
              <a:t>What we learned from GenAI</a:t>
            </a:r>
          </a:p>
        </p:txBody>
      </p:sp>
      <p:sp>
        <p:nvSpPr>
          <p:cNvPr id="3" name="">
            <a:extLst xmlns:a="http://schemas.openxmlformats.org/drawingml/2006/main">
              <a:ext uri="{FF2B5EF4-FFF2-40B4-BE49-F238E27FC236}">
                <a16:creationId xmlns:a16="http://schemas.microsoft.com/office/drawing/2014/main" id="{F7161FC2-BD51-47B9-86E5-F063CC3A36EE}"/>
              </a:ext>
            </a:extLst>
          </p:cNvPr>
          <p:cNvSpPr>
            <a:spLocks xmlns:a="http://schemas.openxmlformats.org/drawingml/2006/main" noGrp="1"/>
          </p:cNvSpPr>
          <p:nvPr/>
        </p:nvSpPr>
        <p:spPr>
          <a:xfrm xmlns:a="http://schemas.openxmlformats.org/drawingml/2006/main">
            <a:off x="11049000" y="634365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55555"/>
                </a:solidFill>
                <a:latin typeface="Arial"/>
                <a:ea typeface="Arial"/>
                <a:cs typeface="Arial"/>
              </a:defRPr>
            </a:pPr>
            <a:r>
              <a:rPr sz="1200" b="0">
                <a:solidFill>
                  <a:srgbClr val="55555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E11D4AB9-09A1-435D-9FF7-21E61775FEF1}"/>
              </a:ext>
            </a:extLst>
          </p:cNvPr>
          <p:cNvSpPr>
            <a:spLocks xmlns:a="http://schemas.openxmlformats.org/drawingml/2006/main" noGrp="1"/>
          </p:cNvSpPr>
          <p:nvPr/>
        </p:nvSpPr>
        <p:spPr>
          <a:xfrm xmlns:a="http://schemas.openxmlformats.org/drawingml/2006/main">
            <a:off x="857250" y="1790700"/>
            <a:ext cx="104775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marL="292100" indent="-127000">
              <a:spcAft>
                <a:spcPts val="1900"/>
              </a:spcAft>
              <a:buChar char="•"/>
              <a:defRPr sz="2100" b="0">
                <a:solidFill>
                  <a:srgbClr val="151515"/>
                </a:solidFill>
                <a:latin typeface="Arial"/>
                <a:ea typeface="Arial"/>
                <a:cs typeface="Arial"/>
              </a:defRPr>
            </a:pPr>
            <a:r>
              <a:rPr sz="2100" b="0">
                <a:solidFill>
                  <a:srgbClr val="151515"/>
                </a:solidFill>
                <a:latin typeface="Arial"/>
                <a:ea typeface="Arial"/>
                <a:cs typeface="Arial"/>
              </a:rPr>
              <a:t>Worked: fast drafts, refactors, and unfamiliar-language help</a:t>
            </a:r>
          </a:p>
          <a:p xmlns:a="http://schemas.openxmlformats.org/drawingml/2006/main">
            <a:pPr marL="292100" indent="-127000">
              <a:spcAft>
                <a:spcPts val="1900"/>
              </a:spcAft>
              <a:buChar char="•"/>
              <a:defRPr sz="2100" b="0">
                <a:solidFill>
                  <a:srgbClr val="151515"/>
                </a:solidFill>
                <a:latin typeface="Arial"/>
                <a:ea typeface="Arial"/>
                <a:cs typeface="Arial"/>
              </a:defRPr>
            </a:pPr>
            <a:r>
              <a:rPr sz="2100" b="0">
                <a:solidFill>
                  <a:srgbClr val="151515"/>
                </a:solidFill>
                <a:latin typeface="Arial"/>
                <a:ea typeface="Arial"/>
                <a:cs typeface="Arial"/>
              </a:rPr>
              <a:t>Did not: generic visuals and unnecessary code</a:t>
            </a:r>
          </a:p>
          <a:p xmlns:a="http://schemas.openxmlformats.org/drawingml/2006/main">
            <a:pPr marL="292100" indent="-127000">
              <a:spcAft>
                <a:spcPts val="1900"/>
              </a:spcAft>
              <a:buChar char="•"/>
              <a:defRPr sz="2100" b="0">
                <a:solidFill>
                  <a:srgbClr val="151515"/>
                </a:solidFill>
                <a:latin typeface="Arial"/>
                <a:ea typeface="Arial"/>
                <a:cs typeface="Arial"/>
              </a:defRPr>
            </a:pPr>
            <a:r>
              <a:rPr sz="2100" b="0">
                <a:solidFill>
                  <a:srgbClr val="151515"/>
                </a:solidFill>
                <a:latin typeface="Arial"/>
                <a:ea typeface="Arial"/>
                <a:cs typeface="Arial"/>
              </a:rPr>
              <a:t>Next: use AI to cross technical gaps, then review critically</a:t>
            </a:r>
          </a:p>
          <a:p xmlns:a="http://schemas.openxmlformats.org/drawingml/2006/main">
            <a:pPr marL="292100" indent="-127000">
              <a:spcAft>
                <a:spcPts val="1900"/>
              </a:spcAft>
              <a:buChar char="•"/>
              <a:defRPr sz="2100" b="0">
                <a:solidFill>
                  <a:srgbClr val="151515"/>
                </a:solidFill>
                <a:latin typeface="Arial"/>
                <a:ea typeface="Arial"/>
                <a:cs typeface="Arial"/>
              </a:defRPr>
            </a:pPr>
            <a:r>
              <a:rPr sz="2100" b="0">
                <a:solidFill>
                  <a:srgbClr val="151515"/>
                </a:solidFill>
                <a:latin typeface="Arial"/>
                <a:ea typeface="Arial"/>
                <a:cs typeface="Arial"/>
              </a:rPr>
              <a:t>Separate experiment: a playable C# mod prototype</a:t>
            </a:r>
          </a:p>
        </p:txBody>
      </p:sp>
    </p:spTree>
    <p:extLst>
      <p:ext uri="{BB962C8B-B14F-4D97-AF65-F5344CB8AC3E}">
        <p14:creationId xmlns:p14="http://schemas.microsoft.com/office/powerpoint/2010/main" val="12070998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2026-09-25T16:04:09.4440000Z</dcterms:created>
  <dcterms:modified xsi:type="dcterms:W3CDTF">2026-09-25T16:04:09.4440000Z</dcterms:modified>
</coreProperties>
</file>