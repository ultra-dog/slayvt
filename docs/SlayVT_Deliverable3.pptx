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2583ac4c4a46b8" /><Relationship Type="http://schemas.openxmlformats.org/officeDocument/2006/relationships/extended-properties" Target="/docProps/app.xml" Id="R24ded479082c412a" /><Relationship Type="http://schemas.openxmlformats.org/officeDocument/2006/relationships/officeDocument" Target="/ppt/presentation.xml" Id="R1d50991aeee74f12" /></Relationships>
</file>

<file path=ppt/presentation.xml><?xml version="1.0" encoding="utf-8"?>
<p:presentation xmlns:p="http://schemas.openxmlformats.org/presentationml/2006/main">
  <p:sldMasterIdLst>
    <p:sldMasterId xmlns:r="http://schemas.openxmlformats.org/officeDocument/2006/relationships" id="2147483648" r:id="Rb03b6d548a594414"/>
  </p:sldMasterIdLst>
  <p:notesMasterIdLst>
    <p:notesMasterId xmlns:r="http://schemas.openxmlformats.org/officeDocument/2006/relationships" r:id="R9aad21d630cf4dfc"/>
  </p:notesMasterIdLst>
  <p:sldIdLst>
    <p:sldId xmlns:r="http://schemas.openxmlformats.org/officeDocument/2006/relationships" id="256" r:id="R69264ac1b8fc4d08"/>
    <p:sldId xmlns:r="http://schemas.openxmlformats.org/officeDocument/2006/relationships" id="257" r:id="R6588f0ca8f7943b2"/>
    <p:sldId xmlns:r="http://schemas.openxmlformats.org/officeDocument/2006/relationships" id="258" r:id="R4163ca020ce24c48"/>
    <p:sldId xmlns:r="http://schemas.openxmlformats.org/officeDocument/2006/relationships" id="259" r:id="R094e29e011b0472d"/>
    <p:sldId xmlns:r="http://schemas.openxmlformats.org/officeDocument/2006/relationships" id="260" r:id="R5772674fcf4d442d"/>
    <p:sldId xmlns:r="http://schemas.openxmlformats.org/officeDocument/2006/relationships" id="261" r:id="R0d87e87c592e48f2"/>
    <p:sldId xmlns:r="http://schemas.openxmlformats.org/officeDocument/2006/relationships" id="262" r:id="R8fbe9641b20c40ed"/>
    <p:sldId xmlns:r="http://schemas.openxmlformats.org/officeDocument/2006/relationships" id="263" r:id="R4e77c0d4fe874c64"/>
    <p:sldId xmlns:r="http://schemas.openxmlformats.org/officeDocument/2006/relationships" id="264" r:id="R199562a316c648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a7f323e76648d4" /><Relationship Type="http://schemas.openxmlformats.org/officeDocument/2006/relationships/slideMaster" Target="/ppt/slideMasters/slideMaster1.xml" Id="Rb03b6d548a594414" /><Relationship Type="http://schemas.openxmlformats.org/officeDocument/2006/relationships/notesMaster" Target="/ppt/notesMasters/notesMaster1.xml" Id="R9aad21d630cf4dfc" /><Relationship Type="http://schemas.openxmlformats.org/officeDocument/2006/relationships/presProps" Target="/ppt/presProps.xml" Id="R38fcfa8f6d8f40f8" /><Relationship Type="http://schemas.openxmlformats.org/officeDocument/2006/relationships/tableStyles" Target="/ppt/tableStyles.xml" Id="Rb399c63c58334c1a" /><Relationship Type="http://schemas.openxmlformats.org/officeDocument/2006/relationships/slide" Target="/ppt/slides/slide1.xml" Id="R69264ac1b8fc4d08" /><Relationship Type="http://schemas.openxmlformats.org/officeDocument/2006/relationships/slide" Target="/ppt/slides/slide2.xml" Id="R6588f0ca8f7943b2" /><Relationship Type="http://schemas.openxmlformats.org/officeDocument/2006/relationships/slide" Target="/ppt/slides/slide3.xml" Id="R4163ca020ce24c48" /><Relationship Type="http://schemas.openxmlformats.org/officeDocument/2006/relationships/slide" Target="/ppt/slides/slide4.xml" Id="R094e29e011b0472d" /><Relationship Type="http://schemas.openxmlformats.org/officeDocument/2006/relationships/slide" Target="/ppt/slides/slide5.xml" Id="R5772674fcf4d442d" /><Relationship Type="http://schemas.openxmlformats.org/officeDocument/2006/relationships/slide" Target="/ppt/slides/slide6.xml" Id="R0d87e87c592e48f2" /><Relationship Type="http://schemas.openxmlformats.org/officeDocument/2006/relationships/slide" Target="/ppt/slides/slide7.xml" Id="R8fbe9641b20c40ed" /><Relationship Type="http://schemas.openxmlformats.org/officeDocument/2006/relationships/slide" Target="/ppt/slides/slide8.xml" Id="R4e77c0d4fe874c64" /><Relationship Type="http://schemas.openxmlformats.org/officeDocument/2006/relationships/slide" Target="/ppt/slides/slide9.xml" Id="R199562a316c648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af9ae95e314f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3297e6598947bb" /><Relationship Type="http://schemas.openxmlformats.org/officeDocument/2006/relationships/notesMaster" Target="/ppt/notesMasters/notesMaster1.xml" Id="R5219c788ff7540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80525d7c5841a3" /><Relationship Type="http://schemas.openxmlformats.org/officeDocument/2006/relationships/notesMaster" Target="/ppt/notesMasters/notesMaster1.xml" Id="R40660d51cd6d44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de04166039413d" /><Relationship Type="http://schemas.openxmlformats.org/officeDocument/2006/relationships/notesMaster" Target="/ppt/notesMasters/notesMaster1.xml" Id="R9348978bc6754c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1c4d2e45274eb4" /><Relationship Type="http://schemas.openxmlformats.org/officeDocument/2006/relationships/notesMaster" Target="/ppt/notesMasters/notesMaster1.xml" Id="R4522388e22ef44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90785f1b73481e" /><Relationship Type="http://schemas.openxmlformats.org/officeDocument/2006/relationships/notesMaster" Target="/ppt/notesMasters/notesMaster1.xml" Id="Ra2ecd70c7afb4c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adfee18e244d39" /><Relationship Type="http://schemas.openxmlformats.org/officeDocument/2006/relationships/notesMaster" Target="/ppt/notesMasters/notesMaster1.xml" Id="R22c66f0a598d4a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a948c60f354066" /><Relationship Type="http://schemas.openxmlformats.org/officeDocument/2006/relationships/notesMaster" Target="/ppt/notesMasters/notesMaster1.xml" Id="R8e7baa78213b40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6794e494f04a03" /><Relationship Type="http://schemas.openxmlformats.org/officeDocument/2006/relationships/notesMaster" Target="/ppt/notesMasters/notesMaster1.xml" Id="R551a44b8dd1245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ab8df05b7441e7" /><Relationship Type="http://schemas.openxmlformats.org/officeDocument/2006/relationships/notesMaster" Target="/ppt/notesMasters/notesMaster1.xml" Id="Re136a2d4b2734f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SlayVT is our Virginia Tech-themed, turn-based deck-building strategy game inspired by Slay the Spire. Repository: https://github.com/ultra-dog/SlayVT</a:t>
            </a:r>
          </a:p>
          <a:p xmlns:a="http://schemas.openxmlformats.org/drawingml/2006/main">
            <a:r>
              <a:t>Visual sources: conceptual cover illustration generated for this presentation; Virginia Tech palette reference: https://brand.vt.edu/identity/color.html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Players build a deck during a 15-floor run. The Meteorologist uses Heat and Cold; switching a target’s temperature causes reversal damage. Combat reveals enemy HP and intent, so the player must spend limited Energy on offense, defense, or setup. Events, shop, and rest site provide noncombat decisions; the run ends after the boss.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current system diagram already included in the repository README. Main coordinates rooms and battles. BattleSystem uses BattleContext, which groups Player, Enemy and BattlePiles; cards apply CardEffect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reduced scope to finish a working game: relics and potions were removed; card and event counts were cut; balance and encounter variety remain limited. The team designed the cards and the Meteorologist’s temperature system rather than delegating that creative work to GenAI. A separate Steam Workshop mod is a possible continuation, not a requirement of this Java deliverable.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about two minutes. Start a short run in Test Mode. Show a battle with enemy intent and limited Energy, trigger a temperature reversal, visit an event or Rest Site, and demonstrate recovery from an invalid menu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to spec: each room needed input, state changes, output, and invalid-input handling, revealing more structural complexity than the initial idea suggested. Spec to code: a two-option Rest Site seemed simple, but upgrading required each card to define an upgraded state. Our card-selection UI works as a long numbered list and can be cumbersome with a large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Week 3 we focused on the feature idea. Now we see scoping as a time budget and a dependency map. We would estimate each subsystem, specify its smallest usable version, and leave deliberate time for testing and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 used GenAI to help scope the initial structure, write tests, propose enemy and event names, refine UI, and suggest BattleContext. We designed the cards, temperature mechanic, and core combat decisions. The example on this slide is a real fields excerpt from SlayVT/src/SlayVTGame/BattleContext.java. The attribution of the original suggestion follows our team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GenAI accelerated drafting and refactoring, but generic designs, unnecessary code, and token use added costs. A separate C# mod experiment already produced a playable character prototype, according to our team account. This is separate from the Java class project. In future projects, we plan to use AI to bridge technical gaps while reviewing its output and keeping ownership of game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f5dcd695444b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723da86d224326" /><Relationship Type="http://schemas.openxmlformats.org/officeDocument/2006/relationships/slideLayout" Target="/ppt/slideLayouts/slideLayout1.xml" Id="R3a559f39bc8549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559f39bc8549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021790b93d4fde" /><Relationship Type="http://schemas.openxmlformats.org/officeDocument/2006/relationships/image" Target="/ppt/media/image.png" Id="R952488f9ffbd47bc" /><Relationship Type="http://schemas.openxmlformats.org/officeDocument/2006/relationships/hyperlink" Target="https://github.com/ultra-dog/SlayVT" TargetMode="External" Id="R9029fb83e8864524" /><Relationship Type="http://schemas.openxmlformats.org/officeDocument/2006/relationships/notesSlide" Target="/ppt/notesSlides/notesSlide1.xml" Id="Re3885d0b7e7f45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4b775b4cdc4a7a" /><Relationship Type="http://schemas.openxmlformats.org/officeDocument/2006/relationships/notesSlide" Target="/ppt/notesSlides/notesSlide2.xml" Id="R19cbd2538bbd40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0fa31ea42e444b" /><Relationship Type="http://schemas.openxmlformats.org/officeDocument/2006/relationships/image" Target="/ppt/media/image2.png" Id="Re918a62ac7804627" /><Relationship Type="http://schemas.openxmlformats.org/officeDocument/2006/relationships/notesSlide" Target="/ppt/notesSlides/notesSlide3.xml" Id="Rdfcff00713264a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59ed6c0faa4232" /><Relationship Type="http://schemas.openxmlformats.org/officeDocument/2006/relationships/notesSlide" Target="/ppt/notesSlides/notesSlide4.xml" Id="Rd3e722a8111745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fad2791d8041ca" /><Relationship Type="http://schemas.openxmlformats.org/officeDocument/2006/relationships/image" Target="/ppt/media/image3.png" Id="Rcc67171526984ab5" /><Relationship Type="http://schemas.openxmlformats.org/officeDocument/2006/relationships/notesSlide" Target="/ppt/notesSlides/notesSlide5.xml" Id="R0b8232ae808847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c6ffe06bbc4830" /><Relationship Type="http://schemas.openxmlformats.org/officeDocument/2006/relationships/notesSlide" Target="/ppt/notesSlides/notesSlide6.xml" Id="R42c59b11d0d54c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7abd7705c34922" /><Relationship Type="http://schemas.openxmlformats.org/officeDocument/2006/relationships/notesSlide" Target="/ppt/notesSlides/notesSlide7.xml" Id="R1cdc87f078e044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225ae619744356" /><Relationship Type="http://schemas.openxmlformats.org/officeDocument/2006/relationships/notesSlide" Target="/ppt/notesSlides/notesSlide8.xml" Id="R65aef7126a1844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3593b48f72e4edb" /><Relationship Type="http://schemas.openxmlformats.org/officeDocument/2006/relationships/notesSlide" Target="/ppt/notesSlides/notesSlide9.xml" Id="R2680ce4a23e745eb" /></Relationships>
</file>

<file path=ppt/slides/slide1.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52488f9ffbd47b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6177F2C-3EB1-4088-9AE8-353068C762BD}"/>
              </a:ext>
            </a:extLst>
          </p:cNvPr>
          <p:cNvSpPr>
            <a:spLocks xmlns:a="http://schemas.openxmlformats.org/drawingml/2006/main" noGrp="1"/>
          </p:cNvSpPr>
          <p:nvPr/>
        </p:nvSpPr>
        <p:spPr>
          <a:xfrm xmlns:a="http://schemas.openxmlformats.org/drawingml/2006/main">
            <a:off x="609600" y="3048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E5751F"/>
                </a:solidFill>
                <a:latin typeface="Consolas"/>
                <a:ea typeface="Consolas"/>
                <a:cs typeface="Consolas"/>
              </a:defRPr>
            </a:pPr>
            <a:r>
              <a:rPr sz="1275" b="1">
                <a:solidFill>
                  <a:srgbClr val="E5751F"/>
                </a:solidFill>
                <a:latin typeface="Consolas"/>
                <a:ea typeface="Consolas"/>
                <a:cs typeface="Consolas"/>
              </a:rPr>
              <a:t>CS 2114  /  FINAL PRESENTATION</a:t>
            </a:r>
          </a:p>
        </p:txBody>
      </p:sp>
      <p:sp>
        <p:nvSpPr>
          <p:cNvPr id="11" name="">
            <a:extLst xmlns:a="http://schemas.openxmlformats.org/drawingml/2006/main">
              <a:ext uri="{FF2B5EF4-FFF2-40B4-BE49-F238E27FC236}">
                <a16:creationId xmlns:a16="http://schemas.microsoft.com/office/drawing/2014/main" id="{760D76EE-7313-4C94-88B9-5F951B8F7374}"/>
              </a:ext>
            </a:extLst>
          </p:cNvPr>
          <p:cNvSpPr>
            <a:spLocks xmlns:a="http://schemas.openxmlformats.org/drawingml/2006/main" noGrp="1"/>
          </p:cNvSpPr>
          <p:nvPr/>
        </p:nvSpPr>
        <p:spPr>
          <a:xfrm xmlns:a="http://schemas.openxmlformats.org/drawingml/2006/main">
            <a:off x="609600" y="2047875"/>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F7F7F4"/>
                </a:solidFill>
                <a:latin typeface="Arial"/>
                <a:ea typeface="Arial"/>
                <a:cs typeface="Arial"/>
              </a:defRPr>
            </a:pPr>
            <a:r>
              <a:rPr sz="7050" b="1">
                <a:solidFill>
                  <a:srgbClr val="F7F7F4"/>
                </a:solidFill>
                <a:latin typeface="Arial"/>
                <a:ea typeface="Arial"/>
                <a:cs typeface="Arial"/>
              </a:rPr>
              <a:t>SlayVT</a:t>
            </a:r>
          </a:p>
        </p:txBody>
      </p:sp>
      <p:sp>
        <p:nvSpPr>
          <p:cNvPr id="12" name="">
            <a:extLst xmlns:a="http://schemas.openxmlformats.org/drawingml/2006/main">
              <a:ext uri="{FF2B5EF4-FFF2-40B4-BE49-F238E27FC236}">
                <a16:creationId xmlns:a16="http://schemas.microsoft.com/office/drawing/2014/main" id="{101705DF-0337-4EDB-B3A5-12037CB6375D}"/>
              </a:ext>
            </a:extLst>
          </p:cNvPr>
          <p:cNvSpPr>
            <a:spLocks xmlns:a="http://schemas.openxmlformats.org/drawingml/2006/main" noGrp="1"/>
          </p:cNvSpPr>
          <p:nvPr/>
        </p:nvSpPr>
        <p:spPr>
          <a:xfrm xmlns:a="http://schemas.openxmlformats.org/drawingml/2006/main">
            <a:off x="647700" y="342900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7F7F4"/>
                </a:solidFill>
                <a:latin typeface="Arial"/>
                <a:ea typeface="Arial"/>
                <a:cs typeface="Arial"/>
              </a:defRPr>
            </a:pPr>
            <a:r>
              <a:rPr sz="2625" b="0">
                <a:solidFill>
                  <a:srgbClr val="F7F7F4"/>
                </a:solidFill>
                <a:latin typeface="Arial"/>
                <a:ea typeface="Arial"/>
                <a:cs typeface="Arial"/>
              </a:rPr>
              <a:t>Deck-building strategy</a:t>
            </a:r>
          </a:p>
          <a:p xmlns:a="http://schemas.openxmlformats.org/drawingml/2006/main">
            <a:pPr>
              <a:defRPr sz="2625" b="0">
                <a:solidFill>
                  <a:srgbClr val="F7F7F4"/>
                </a:solidFill>
                <a:latin typeface="Arial"/>
                <a:ea typeface="Arial"/>
                <a:cs typeface="Arial"/>
              </a:defRPr>
            </a:pPr>
            <a:r>
              <a:rPr sz="2625" b="0">
                <a:solidFill>
                  <a:srgbClr val="F7F7F4"/>
                </a:solidFill>
                <a:latin typeface="Arial"/>
                <a:ea typeface="Arial"/>
                <a:cs typeface="Arial"/>
              </a:rPr>
              <a:t>at Virginia Tech</a:t>
            </a:r>
          </a:p>
        </p:txBody>
      </p:sp>
      <p:sp>
        <p:nvSpPr>
          <p:cNvPr id="13" name="">
            <a:extLst xmlns:a="http://schemas.openxmlformats.org/drawingml/2006/main">
              <a:ext uri="{FF2B5EF4-FFF2-40B4-BE49-F238E27FC236}">
                <a16:creationId xmlns:a16="http://schemas.microsoft.com/office/drawing/2014/main" id="{1E2741A3-C34B-4BBE-98B4-C58B30ED6479}"/>
              </a:ext>
            </a:extLst>
          </p:cNvPr>
          <p:cNvSpPr>
            <a:spLocks xmlns:a="http://schemas.openxmlformats.org/drawingml/2006/main" noGrp="1"/>
          </p:cNvSpPr>
          <p:nvPr/>
        </p:nvSpPr>
        <p:spPr>
          <a:xfrm xmlns:a="http://schemas.openxmlformats.org/drawingml/2006/main">
            <a:off x="647700" y="4638675"/>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7C1CB"/>
                </a:solidFill>
                <a:latin typeface="Arial"/>
                <a:ea typeface="Arial"/>
                <a:cs typeface="Arial"/>
              </a:defRPr>
            </a:pPr>
            <a:r>
              <a:rPr sz="1725" b="0">
                <a:solidFill>
                  <a:srgbClr val="B7C1CB"/>
                </a:solidFill>
                <a:latin typeface="Arial"/>
                <a:ea typeface="Arial"/>
                <a:cs typeface="Arial"/>
              </a:rPr>
              <a:t>Inspired by Slay the Spire</a:t>
            </a:r>
          </a:p>
        </p:txBody>
      </p:sp>
      <p:sp>
        <p:nvSpPr>
          <p:cNvPr id="14" name="">
            <a:extLst xmlns:a="http://schemas.openxmlformats.org/drawingml/2006/main">
              <a:ext uri="{FF2B5EF4-FFF2-40B4-BE49-F238E27FC236}">
                <a16:creationId xmlns:a16="http://schemas.microsoft.com/office/drawing/2014/main" id="{875A2BE9-256A-4E9B-B78E-EA43816CF8F4}"/>
              </a:ext>
            </a:extLst>
          </p:cNvPr>
          <p:cNvSpPr>
            <a:spLocks xmlns:a="http://schemas.openxmlformats.org/drawingml/2006/main" noGrp="1"/>
          </p:cNvSpPr>
          <p:nvPr/>
        </p:nvSpPr>
        <p:spPr>
          <a:xfrm xmlns:a="http://schemas.openxmlformats.org/drawingml/2006/main">
            <a:off x="647700" y="5629275"/>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7C1CB"/>
                </a:solidFill>
                <a:latin typeface="Consolas"/>
                <a:ea typeface="Consolas"/>
                <a:cs typeface="Consolas"/>
              </a:defRPr>
            </a:pPr>
            <a:r>
              <a:rPr sz="1500" b="0">
                <a:solidFill>
                  <a:srgbClr val="B7C1CB"/>
                </a:solidFill>
                <a:latin typeface="Consolas"/>
                <a:ea typeface="Consolas"/>
                <a:cs typeface="Consolas"/>
                <a:hlinkClick xmlns:r="http://schemas.openxmlformats.org/officeDocument/2006/relationships" r:id="R9029fb83e8864524"/>
              </a:rPr>
              <a:t>https://github.com/ultra-dog/SlayVT</a:t>
            </a:r>
          </a:p>
        </p:txBody>
      </p:sp>
      <p:sp>
        <p:nvSpPr>
          <p:cNvPr id="15" name="">
            <a:extLst xmlns:a="http://schemas.openxmlformats.org/drawingml/2006/main">
              <a:ext uri="{FF2B5EF4-FFF2-40B4-BE49-F238E27FC236}">
                <a16:creationId xmlns:a16="http://schemas.microsoft.com/office/drawing/2014/main" id="{A30AB39A-4DF4-4183-AEEE-867A59068E47}"/>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7C1CB"/>
                </a:solidFill>
                <a:latin typeface="Consolas"/>
                <a:ea typeface="Consolas"/>
                <a:cs typeface="Consolas"/>
              </a:defRPr>
            </a:pPr>
            <a:r>
              <a:rPr sz="1125" b="0">
                <a:solidFill>
                  <a:srgbClr val="B7C1CB"/>
                </a:solidFill>
                <a:latin typeface="Consolas"/>
                <a:ea typeface="Consolas"/>
                <a:cs typeface="Consolas"/>
              </a:rPr>
              <a:t>SLAYVT  /  VIRGINIA TECH</a:t>
            </a:r>
          </a:p>
        </p:txBody>
      </p:sp>
      <p:sp>
        <p:nvSpPr>
          <p:cNvPr id="16" name="">
            <a:extLst xmlns:a="http://schemas.openxmlformats.org/drawingml/2006/main">
              <a:ext uri="{FF2B5EF4-FFF2-40B4-BE49-F238E27FC236}">
                <a16:creationId xmlns:a16="http://schemas.microsoft.com/office/drawing/2014/main" id="{A350670C-D9DE-494C-BE90-F9DA2D1B2DA0}"/>
              </a:ext>
            </a:extLst>
          </p:cNvPr>
          <p:cNvSpPr>
            <a:spLocks xmlns:a="http://schemas.openxmlformats.org/drawingml/2006/main" noGrp="1"/>
          </p:cNvSpPr>
          <p:nvPr/>
        </p:nvSpPr>
        <p:spPr>
          <a:xfrm xmlns:a="http://schemas.openxmlformats.org/drawingml/2006/main">
            <a:off x="10610850" y="6305550"/>
            <a:ext cx="109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C1CB"/>
                </a:solidFill>
                <a:latin typeface="Consolas"/>
                <a:ea typeface="Consolas"/>
                <a:cs typeface="Consolas"/>
              </a:defRPr>
            </a:pPr>
            <a:r>
              <a:rPr sz="1200" b="0">
                <a:solidFill>
                  <a:srgbClr val="B7C1CB"/>
                </a:solidFill>
                <a:latin typeface="Consolas"/>
                <a:ea typeface="Consolas"/>
                <a:cs typeface="Consolas"/>
              </a:rPr>
              <a:t>01 / 09</a:t>
            </a:r>
          </a:p>
        </p:txBody>
      </p:sp>
    </p:spTree>
    <p:extLst>
      <p:ext uri="{BB962C8B-B14F-4D97-AF65-F5344CB8AC3E}">
        <p14:creationId xmlns:p14="http://schemas.microsoft.com/office/powerpoint/2010/main" val="20838586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D51654-2DB2-4AD3-81B8-046DC0AC9DD6}"/>
              </a:ext>
            </a:extLst>
          </p:cNvPr>
          <p:cNvSpPr>
            <a:spLocks xmlns:a="http://schemas.openxmlformats.org/drawingml/2006/main" noGrp="1"/>
          </p:cNvSpPr>
          <p:nvPr/>
        </p:nvSpPr>
        <p:spPr>
          <a:xfrm xmlns:a="http://schemas.openxmlformats.org/drawingml/2006/main">
            <a:off x="609600" y="3048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C64600"/>
                </a:solidFill>
                <a:latin typeface="Consolas"/>
                <a:ea typeface="Consolas"/>
                <a:cs typeface="Consolas"/>
              </a:defRPr>
            </a:pPr>
            <a:r>
              <a:rPr sz="1275" b="1">
                <a:solidFill>
                  <a:srgbClr val="C64600"/>
                </a:solidFill>
                <a:latin typeface="Consolas"/>
                <a:ea typeface="Consolas"/>
                <a:cs typeface="Consolas"/>
              </a:rPr>
              <a:t>01  /  MVP</a:t>
            </a:r>
          </a:p>
        </p:txBody>
      </p:sp>
      <p:sp>
        <p:nvSpPr>
          <p:cNvPr id="2" name="">
            <a:extLst xmlns:a="http://schemas.openxmlformats.org/drawingml/2006/main">
              <a:ext uri="{FF2B5EF4-FFF2-40B4-BE49-F238E27FC236}">
                <a16:creationId xmlns:a16="http://schemas.microsoft.com/office/drawing/2014/main" id="{24835FBB-8E07-451F-B387-4737EA44A55E}"/>
              </a:ext>
            </a:extLst>
          </p:cNvPr>
          <p:cNvSpPr>
            <a:spLocks xmlns:a="http://schemas.openxmlformats.org/drawingml/2006/main" noGrp="1"/>
          </p:cNvSpPr>
          <p:nvPr/>
        </p:nvSpPr>
        <p:spPr>
          <a:xfrm xmlns:a="http://schemas.openxmlformats.org/drawingml/2006/main">
            <a:off x="609600" y="7810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212B"/>
                </a:solidFill>
                <a:latin typeface="Arial"/>
                <a:ea typeface="Arial"/>
                <a:cs typeface="Arial"/>
              </a:defRPr>
            </a:pPr>
            <a:r>
              <a:rPr sz="3450" b="1">
                <a:solidFill>
                  <a:srgbClr val="17212B"/>
                </a:solidFill>
                <a:latin typeface="Arial"/>
                <a:ea typeface="Arial"/>
                <a:cs typeface="Arial"/>
              </a:rPr>
              <a:t>What we built</a:t>
            </a:r>
          </a:p>
        </p:txBody>
      </p:sp>
      <p:sp>
        <p:nvSpPr>
          <p:cNvPr id="3" name="">
            <a:extLst xmlns:a="http://schemas.openxmlformats.org/drawingml/2006/main">
              <a:ext uri="{FF2B5EF4-FFF2-40B4-BE49-F238E27FC236}">
                <a16:creationId xmlns:a16="http://schemas.microsoft.com/office/drawing/2014/main" id="{D1DC9A59-5AFA-49FD-BB51-1419A1969F26}"/>
              </a:ext>
            </a:extLst>
          </p:cNvPr>
          <p:cNvSpPr>
            <a:spLocks xmlns:a="http://schemas.openxmlformats.org/drawingml/2006/main" noGrp="1"/>
          </p:cNvSpPr>
          <p:nvPr/>
        </p:nvSpPr>
        <p:spPr>
          <a:xfrm xmlns:a="http://schemas.openxmlformats.org/drawingml/2006/main">
            <a:off x="10610850" y="6305550"/>
            <a:ext cx="109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9616B"/>
                </a:solidFill>
                <a:latin typeface="Consolas"/>
                <a:ea typeface="Consolas"/>
                <a:cs typeface="Consolas"/>
              </a:defRPr>
            </a:pPr>
            <a:r>
              <a:rPr sz="1200" b="0">
                <a:solidFill>
                  <a:srgbClr val="59616B"/>
                </a:solidFill>
                <a:latin typeface="Consolas"/>
                <a:ea typeface="Consolas"/>
                <a:cs typeface="Consolas"/>
              </a:rPr>
              <a:t>02 / 09</a:t>
            </a:r>
          </a:p>
        </p:txBody>
      </p:sp>
      <p:sp>
        <p:nvSpPr>
          <p:cNvPr id="6" name="">
            <a:extLst xmlns:a="http://schemas.openxmlformats.org/drawingml/2006/main">
              <a:ext uri="{FF2B5EF4-FFF2-40B4-BE49-F238E27FC236}">
                <a16:creationId xmlns:a16="http://schemas.microsoft.com/office/drawing/2014/main" id="{916F513D-C403-4C09-8FB7-BB922886E5A6}"/>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16B"/>
                </a:solidFill>
                <a:latin typeface="Consolas"/>
                <a:ea typeface="Consolas"/>
                <a:cs typeface="Consolas"/>
              </a:defRPr>
            </a:pPr>
            <a:r>
              <a:rPr sz="1125" b="0">
                <a:solidFill>
                  <a:srgbClr val="59616B"/>
                </a:solidFill>
                <a:latin typeface="Consolas"/>
                <a:ea typeface="Consolas"/>
                <a:cs typeface="Consolas"/>
              </a:rPr>
              <a:t>SLAYVT  /  VIRGINIA TECH</a:t>
            </a:r>
          </a:p>
        </p:txBody>
      </p:sp>
      <p:sp>
        <p:nvSpPr>
          <p:cNvPr id="7" name="">
            <a:extLst xmlns:a="http://schemas.openxmlformats.org/drawingml/2006/main">
              <a:ext uri="{FF2B5EF4-FFF2-40B4-BE49-F238E27FC236}">
                <a16:creationId xmlns:a16="http://schemas.microsoft.com/office/drawing/2014/main" id="{24928DF3-1221-4C23-AF1C-B3811DE6179D}"/>
              </a:ext>
            </a:extLst>
          </p:cNvPr>
          <p:cNvSpPr>
            <a:spLocks xmlns:a="http://schemas.openxmlformats.org/drawingml/2006/main" noGrp="1"/>
          </p:cNvSpPr>
          <p:nvPr/>
        </p:nvSpPr>
        <p:spPr>
          <a:xfrm xmlns:a="http://schemas.openxmlformats.org/drawingml/2006/main">
            <a:off x="647700" y="2028825"/>
            <a:ext cx="6381750" cy="3457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800"/>
              </a:spcAft>
              <a:buChar char="•"/>
              <a:defRPr sz="2100" b="0">
                <a:solidFill>
                  <a:srgbClr val="17212B"/>
                </a:solidFill>
                <a:latin typeface="Arial"/>
                <a:ea typeface="Arial"/>
                <a:cs typeface="Arial"/>
              </a:defRPr>
            </a:pPr>
            <a:r>
              <a:rPr sz="2100" b="0">
                <a:solidFill>
                  <a:srgbClr val="17212B"/>
                </a:solidFill>
                <a:latin typeface="Arial"/>
                <a:ea typeface="Arial"/>
                <a:cs typeface="Arial"/>
              </a:rPr>
              <a:t>Build a deck across a 15-floor run</a:t>
            </a:r>
          </a:p>
          <a:p xmlns:a="http://schemas.openxmlformats.org/drawingml/2006/main">
            <a:pPr marL="241300" indent="-114300">
              <a:spcAft>
                <a:spcPts val="1800"/>
              </a:spcAft>
              <a:buChar char="•"/>
              <a:defRPr sz="2100" b="0">
                <a:solidFill>
                  <a:srgbClr val="17212B"/>
                </a:solidFill>
                <a:latin typeface="Arial"/>
                <a:ea typeface="Arial"/>
                <a:cs typeface="Arial"/>
              </a:defRPr>
            </a:pPr>
            <a:r>
              <a:rPr sz="2100" b="0">
                <a:solidFill>
                  <a:srgbClr val="17212B"/>
                </a:solidFill>
                <a:latin typeface="Arial"/>
                <a:ea typeface="Arial"/>
                <a:cs typeface="Arial"/>
              </a:rPr>
              <a:t>Read enemy intent and spend limited Energy</a:t>
            </a:r>
          </a:p>
          <a:p xmlns:a="http://schemas.openxmlformats.org/drawingml/2006/main">
            <a:pPr marL="241300" indent="-114300">
              <a:spcAft>
                <a:spcPts val="1800"/>
              </a:spcAft>
              <a:buChar char="•"/>
              <a:defRPr sz="2100" b="0">
                <a:solidFill>
                  <a:srgbClr val="17212B"/>
                </a:solidFill>
                <a:latin typeface="Arial"/>
                <a:ea typeface="Arial"/>
                <a:cs typeface="Arial"/>
              </a:defRPr>
            </a:pPr>
            <a:r>
              <a:rPr sz="2100" b="0">
                <a:solidFill>
                  <a:srgbClr val="17212B"/>
                </a:solidFill>
                <a:latin typeface="Arial"/>
                <a:ea typeface="Arial"/>
                <a:cs typeface="Arial"/>
              </a:rPr>
              <a:t>Choose events, shops, and Rest Sites</a:t>
            </a:r>
          </a:p>
          <a:p xmlns:a="http://schemas.openxmlformats.org/drawingml/2006/main">
            <a:pPr marL="241300" indent="-114300">
              <a:spcAft>
                <a:spcPts val="1800"/>
              </a:spcAft>
              <a:buChar char="•"/>
              <a:defRPr sz="2100" b="0">
                <a:solidFill>
                  <a:srgbClr val="17212B"/>
                </a:solidFill>
                <a:latin typeface="Arial"/>
                <a:ea typeface="Arial"/>
                <a:cs typeface="Arial"/>
              </a:defRPr>
            </a:pPr>
            <a:r>
              <a:rPr sz="2100" b="0">
                <a:solidFill>
                  <a:srgbClr val="17212B"/>
                </a:solidFill>
                <a:latin typeface="Arial"/>
                <a:ea typeface="Arial"/>
                <a:cs typeface="Arial"/>
              </a:rPr>
              <a:t>Defeat the final boss to finish the run</a:t>
            </a:r>
          </a:p>
        </p:txBody>
      </p:sp>
      <p:sp>
        <p:nvSpPr>
          <p:cNvPr id="8" name="">
            <a:extLst xmlns:a="http://schemas.openxmlformats.org/drawingml/2006/main">
              <a:ext uri="{FF2B5EF4-FFF2-40B4-BE49-F238E27FC236}">
                <a16:creationId xmlns:a16="http://schemas.microsoft.com/office/drawing/2014/main" id="{BDDF7498-AEDE-4480-90F6-F133030CB6C8}"/>
              </a:ext>
            </a:extLst>
          </p:cNvPr>
          <p:cNvSpPr>
            <a:spLocks xmlns:a="http://schemas.openxmlformats.org/drawingml/2006/main" noGrp="1"/>
          </p:cNvSpPr>
          <p:nvPr/>
        </p:nvSpPr>
        <p:spPr>
          <a:xfrm xmlns:a="http://schemas.openxmlformats.org/drawingml/2006/main">
            <a:off x="7848600" y="1952625"/>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61F41"/>
                </a:solidFill>
                <a:latin typeface="Consolas"/>
                <a:ea typeface="Consolas"/>
                <a:cs typeface="Consolas"/>
              </a:defRPr>
            </a:pPr>
            <a:r>
              <a:rPr sz="1350" b="1">
                <a:solidFill>
                  <a:srgbClr val="861F41"/>
                </a:solidFill>
                <a:latin typeface="Consolas"/>
                <a:ea typeface="Consolas"/>
                <a:cs typeface="Consolas"/>
              </a:rPr>
              <a:t>THE METEOROLOGIST</a:t>
            </a:r>
          </a:p>
        </p:txBody>
      </p:sp>
      <p:sp>
        <p:nvSpPr>
          <p:cNvPr id="9" name="">
            <a:extLst xmlns:a="http://schemas.openxmlformats.org/drawingml/2006/main">
              <a:ext uri="{FF2B5EF4-FFF2-40B4-BE49-F238E27FC236}">
                <a16:creationId xmlns:a16="http://schemas.microsoft.com/office/drawing/2014/main" id="{CC78297C-8224-4415-88EA-559E07A49524}"/>
              </a:ext>
            </a:extLst>
          </p:cNvPr>
          <p:cNvSpPr>
            <a:spLocks xmlns:a="http://schemas.openxmlformats.org/drawingml/2006/main" noGrp="1"/>
          </p:cNvSpPr>
          <p:nvPr/>
        </p:nvSpPr>
        <p:spPr>
          <a:xfrm xmlns:a="http://schemas.openxmlformats.org/drawingml/2006/main">
            <a:off x="7839075" y="2590800"/>
            <a:ext cx="342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64600"/>
                </a:solidFill>
                <a:latin typeface="Arial"/>
                <a:ea typeface="Arial"/>
                <a:cs typeface="Arial"/>
              </a:defRPr>
            </a:pPr>
            <a:r>
              <a:rPr sz="3225" b="1">
                <a:solidFill>
                  <a:srgbClr val="C64600"/>
                </a:solidFill>
                <a:latin typeface="Arial"/>
                <a:ea typeface="Arial"/>
                <a:cs typeface="Arial"/>
              </a:rPr>
              <a:t>HEAT +</a:t>
            </a:r>
          </a:p>
        </p:txBody>
      </p:sp>
      <p:sp>
        <p:nvSpPr>
          <p:cNvPr id="10" name="">
            <a:extLst xmlns:a="http://schemas.openxmlformats.org/drawingml/2006/main">
              <a:ext uri="{FF2B5EF4-FFF2-40B4-BE49-F238E27FC236}">
                <a16:creationId xmlns:a16="http://schemas.microsoft.com/office/drawing/2014/main" id="{1581806F-C271-4E9F-AD54-4D7035F00AC8}"/>
              </a:ext>
            </a:extLst>
          </p:cNvPr>
          <p:cNvSpPr>
            <a:spLocks xmlns:a="http://schemas.openxmlformats.org/drawingml/2006/main" noGrp="1"/>
          </p:cNvSpPr>
          <p:nvPr/>
        </p:nvSpPr>
        <p:spPr>
          <a:xfrm xmlns:a="http://schemas.openxmlformats.org/drawingml/2006/main">
            <a:off x="7839075" y="3324225"/>
            <a:ext cx="342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16C8C"/>
                </a:solidFill>
                <a:latin typeface="Arial"/>
                <a:ea typeface="Arial"/>
                <a:cs typeface="Arial"/>
              </a:defRPr>
            </a:pPr>
            <a:r>
              <a:rPr sz="3225" b="1">
                <a:solidFill>
                  <a:srgbClr val="216C8C"/>
                </a:solidFill>
                <a:latin typeface="Arial"/>
                <a:ea typeface="Arial"/>
                <a:cs typeface="Arial"/>
              </a:rPr>
              <a:t>COLD −</a:t>
            </a:r>
          </a:p>
        </p:txBody>
      </p:sp>
      <p:sp>
        <p:nvSpPr>
          <p:cNvPr id="11" name="">
            <a:extLst xmlns:a="http://schemas.openxmlformats.org/drawingml/2006/main">
              <a:ext uri="{FF2B5EF4-FFF2-40B4-BE49-F238E27FC236}">
                <a16:creationId xmlns:a16="http://schemas.microsoft.com/office/drawing/2014/main" id="{D9CB862A-001B-41BA-849B-718FAEEA8A45}"/>
              </a:ext>
            </a:extLst>
          </p:cNvPr>
          <p:cNvSpPr>
            <a:spLocks xmlns:a="http://schemas.openxmlformats.org/drawingml/2006/main" noGrp="1"/>
          </p:cNvSpPr>
          <p:nvPr/>
        </p:nvSpPr>
        <p:spPr>
          <a:xfrm xmlns:a="http://schemas.openxmlformats.org/drawingml/2006/main">
            <a:off x="7858125" y="4352925"/>
            <a:ext cx="3286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Reverse temperature</a:t>
            </a:r>
          </a:p>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for bonus damage</a:t>
            </a:r>
          </a:p>
        </p:txBody>
      </p:sp>
    </p:spTree>
    <p:extLst>
      <p:ext uri="{BB962C8B-B14F-4D97-AF65-F5344CB8AC3E}">
        <p14:creationId xmlns:p14="http://schemas.microsoft.com/office/powerpoint/2010/main" val="16658677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BE43EF-8971-4867-AC36-6A7128FAC33B}"/>
              </a:ext>
            </a:extLst>
          </p:cNvPr>
          <p:cNvSpPr>
            <a:spLocks xmlns:a="http://schemas.openxmlformats.org/drawingml/2006/main" noGrp="1"/>
          </p:cNvSpPr>
          <p:nvPr/>
        </p:nvSpPr>
        <p:spPr>
          <a:xfrm xmlns:a="http://schemas.openxmlformats.org/drawingml/2006/main">
            <a:off x="609600" y="3048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C64600"/>
                </a:solidFill>
                <a:latin typeface="Consolas"/>
                <a:ea typeface="Consolas"/>
                <a:cs typeface="Consolas"/>
              </a:defRPr>
            </a:pPr>
            <a:r>
              <a:rPr sz="1275" b="1">
                <a:solidFill>
                  <a:srgbClr val="C64600"/>
                </a:solidFill>
                <a:latin typeface="Consolas"/>
                <a:ea typeface="Consolas"/>
                <a:cs typeface="Consolas"/>
              </a:rPr>
              <a:t>01  /  MVP</a:t>
            </a:r>
          </a:p>
        </p:txBody>
      </p:sp>
      <p:sp>
        <p:nvSpPr>
          <p:cNvPr id="2" name="">
            <a:extLst xmlns:a="http://schemas.openxmlformats.org/drawingml/2006/main">
              <a:ext uri="{FF2B5EF4-FFF2-40B4-BE49-F238E27FC236}">
                <a16:creationId xmlns:a16="http://schemas.microsoft.com/office/drawing/2014/main" id="{8D68B11F-4886-4447-9880-947244E9652A}"/>
              </a:ext>
            </a:extLst>
          </p:cNvPr>
          <p:cNvSpPr>
            <a:spLocks xmlns:a="http://schemas.openxmlformats.org/drawingml/2006/main" noGrp="1"/>
          </p:cNvSpPr>
          <p:nvPr/>
        </p:nvSpPr>
        <p:spPr>
          <a:xfrm xmlns:a="http://schemas.openxmlformats.org/drawingml/2006/main">
            <a:off x="514350" y="866775"/>
            <a:ext cx="295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212B"/>
                </a:solidFill>
                <a:latin typeface="Arial"/>
                <a:ea typeface="Arial"/>
                <a:cs typeface="Arial"/>
              </a:defRPr>
            </a:pPr>
            <a:r>
              <a:rPr sz="3225" b="1">
                <a:solidFill>
                  <a:srgbClr val="17212B"/>
                </a:solidFill>
                <a:latin typeface="Arial"/>
                <a:ea typeface="Arial"/>
                <a:cs typeface="Arial"/>
              </a:rPr>
              <a:t>System</a:t>
            </a:r>
          </a:p>
          <a:p xmlns:a="http://schemas.openxmlformats.org/drawingml/2006/main">
            <a:pPr>
              <a:buNone/>
              <a:defRPr sz="3225" b="1">
                <a:solidFill>
                  <a:srgbClr val="17212B"/>
                </a:solidFill>
                <a:latin typeface="Arial"/>
                <a:ea typeface="Arial"/>
                <a:cs typeface="Arial"/>
              </a:defRPr>
            </a:pPr>
            <a:r>
              <a:rPr sz="3225" b="1">
                <a:solidFill>
                  <a:srgbClr val="17212B"/>
                </a:solidFill>
                <a:latin typeface="Arial"/>
                <a:ea typeface="Arial"/>
                <a:cs typeface="Arial"/>
              </a:rPr>
              <a:t>diagram</a:t>
            </a:r>
          </a:p>
        </p:txBody>
      </p:sp>
      <p:sp>
        <p:nvSpPr>
          <p:cNvPr id="3" name="">
            <a:extLst xmlns:a="http://schemas.openxmlformats.org/drawingml/2006/main">
              <a:ext uri="{FF2B5EF4-FFF2-40B4-BE49-F238E27FC236}">
                <a16:creationId xmlns:a16="http://schemas.microsoft.com/office/drawing/2014/main" id="{910AA1EE-A1C3-431B-83B7-1E60B7837983}"/>
              </a:ext>
            </a:extLst>
          </p:cNvPr>
          <p:cNvSpPr>
            <a:spLocks xmlns:a="http://schemas.openxmlformats.org/drawingml/2006/main" noGrp="1"/>
          </p:cNvSpPr>
          <p:nvPr/>
        </p:nvSpPr>
        <p:spPr>
          <a:xfrm xmlns:a="http://schemas.openxmlformats.org/drawingml/2006/main">
            <a:off x="10610850" y="6305550"/>
            <a:ext cx="109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9616B"/>
                </a:solidFill>
                <a:latin typeface="Consolas"/>
                <a:ea typeface="Consolas"/>
                <a:cs typeface="Consolas"/>
              </a:defRPr>
            </a:pPr>
            <a:r>
              <a:rPr sz="1200" b="0">
                <a:solidFill>
                  <a:srgbClr val="59616B"/>
                </a:solidFill>
                <a:latin typeface="Consolas"/>
                <a:ea typeface="Consolas"/>
                <a:cs typeface="Consolas"/>
              </a:rPr>
              <a:t>03 / 09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918a62ac7804627"/>
          <a:stretch xmlns:a="http://schemas.openxmlformats.org/drawingml/2006/main"/>
        </p:blipFill>
        <p:spPr>
          <a:xfrm xmlns:a="http://schemas.openxmlformats.org/drawingml/2006/main">
            <a:off x="3943350" y="209550"/>
            <a:ext cx="7277100" cy="6096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93FAA0A-8667-49DB-BD36-40B24D7DFAB9}"/>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16B"/>
                </a:solidFill>
                <a:latin typeface="Consolas"/>
                <a:ea typeface="Consolas"/>
                <a:cs typeface="Consolas"/>
              </a:defRPr>
            </a:pPr>
            <a:r>
              <a:rPr sz="1125" b="0">
                <a:solidFill>
                  <a:srgbClr val="59616B"/>
                </a:solidFill>
                <a:latin typeface="Consolas"/>
                <a:ea typeface="Consolas"/>
                <a:cs typeface="Consolas"/>
              </a:rPr>
              <a:t>SLAYVT  /  VIRGINIA TECH</a:t>
            </a:r>
          </a:p>
        </p:txBody>
      </p:sp>
      <p:sp>
        <p:nvSpPr>
          <p:cNvPr id="8" name="">
            <a:extLst xmlns:a="http://schemas.openxmlformats.org/drawingml/2006/main">
              <a:ext uri="{FF2B5EF4-FFF2-40B4-BE49-F238E27FC236}">
                <a16:creationId xmlns:a16="http://schemas.microsoft.com/office/drawing/2014/main" id="{3D96F1C9-CEB9-4C52-96A8-B6BD2F37FB3F}"/>
              </a:ext>
            </a:extLst>
          </p:cNvPr>
          <p:cNvSpPr>
            <a:spLocks xmlns:a="http://schemas.openxmlformats.org/drawingml/2006/main" noGrp="1"/>
          </p:cNvSpPr>
          <p:nvPr/>
        </p:nvSpPr>
        <p:spPr>
          <a:xfrm xmlns:a="http://schemas.openxmlformats.org/drawingml/2006/main">
            <a:off x="552450" y="262890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12B"/>
                </a:solidFill>
                <a:latin typeface="Arial"/>
                <a:ea typeface="Arial"/>
                <a:cs typeface="Arial"/>
              </a:defRPr>
            </a:pPr>
            <a:r>
              <a:rPr sz="1875" b="0">
                <a:solidFill>
                  <a:srgbClr val="17212B"/>
                </a:solidFill>
                <a:latin typeface="Arial"/>
                <a:ea typeface="Arial"/>
                <a:cs typeface="Arial"/>
              </a:rPr>
              <a:t>Main coordinates</a:t>
            </a:r>
          </a:p>
          <a:p xmlns:a="http://schemas.openxmlformats.org/drawingml/2006/main">
            <a:pPr>
              <a:defRPr sz="1875" b="0">
                <a:solidFill>
                  <a:srgbClr val="17212B"/>
                </a:solidFill>
                <a:latin typeface="Arial"/>
                <a:ea typeface="Arial"/>
                <a:cs typeface="Arial"/>
              </a:defRPr>
            </a:pPr>
            <a:r>
              <a:rPr sz="1875" b="0">
                <a:solidFill>
                  <a:srgbClr val="17212B"/>
                </a:solidFill>
                <a:latin typeface="Arial"/>
                <a:ea typeface="Arial"/>
                <a:cs typeface="Arial"/>
              </a:rPr>
              <a:t>rooms and battles.</a:t>
            </a:r>
          </a:p>
        </p:txBody>
      </p:sp>
      <p:sp>
        <p:nvSpPr>
          <p:cNvPr id="9" name="">
            <a:extLst xmlns:a="http://schemas.openxmlformats.org/drawingml/2006/main">
              <a:ext uri="{FF2B5EF4-FFF2-40B4-BE49-F238E27FC236}">
                <a16:creationId xmlns:a16="http://schemas.microsoft.com/office/drawing/2014/main" id="{875AB532-A72E-45BE-9E2A-5A446E6C3B42}"/>
              </a:ext>
            </a:extLst>
          </p:cNvPr>
          <p:cNvSpPr>
            <a:spLocks xmlns:a="http://schemas.openxmlformats.org/drawingml/2006/main" noGrp="1"/>
          </p:cNvSpPr>
          <p:nvPr/>
        </p:nvSpPr>
        <p:spPr>
          <a:xfrm xmlns:a="http://schemas.openxmlformats.org/drawingml/2006/main">
            <a:off x="552450" y="3810000"/>
            <a:ext cx="2762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16B"/>
                </a:solidFill>
                <a:latin typeface="Arial"/>
                <a:ea typeface="Arial"/>
                <a:cs typeface="Arial"/>
              </a:defRPr>
            </a:pPr>
            <a:r>
              <a:rPr sz="1875" b="0">
                <a:solidFill>
                  <a:srgbClr val="59616B"/>
                </a:solidFill>
                <a:latin typeface="Arial"/>
                <a:ea typeface="Arial"/>
                <a:cs typeface="Arial"/>
              </a:rPr>
              <a:t>BattleContext groups</a:t>
            </a:r>
          </a:p>
          <a:p xmlns:a="http://schemas.openxmlformats.org/drawingml/2006/main">
            <a:pPr>
              <a:defRPr sz="1875" b="0">
                <a:solidFill>
                  <a:srgbClr val="59616B"/>
                </a:solidFill>
                <a:latin typeface="Arial"/>
                <a:ea typeface="Arial"/>
                <a:cs typeface="Arial"/>
              </a:defRPr>
            </a:pPr>
            <a:r>
              <a:rPr sz="1875" b="0">
                <a:solidFill>
                  <a:srgbClr val="59616B"/>
                </a:solidFill>
                <a:latin typeface="Arial"/>
                <a:ea typeface="Arial"/>
                <a:cs typeface="Arial"/>
              </a:rPr>
              <a:t>the player, enemies,</a:t>
            </a:r>
          </a:p>
          <a:p xmlns:a="http://schemas.openxmlformats.org/drawingml/2006/main">
            <a:pPr>
              <a:defRPr sz="1875" b="0">
                <a:solidFill>
                  <a:srgbClr val="59616B"/>
                </a:solidFill>
                <a:latin typeface="Arial"/>
                <a:ea typeface="Arial"/>
                <a:cs typeface="Arial"/>
              </a:defRPr>
            </a:pPr>
            <a:r>
              <a:rPr sz="1875" b="0">
                <a:solidFill>
                  <a:srgbClr val="59616B"/>
                </a:solidFill>
                <a:latin typeface="Arial"/>
                <a:ea typeface="Arial"/>
                <a:cs typeface="Arial"/>
              </a:rPr>
              <a:t>and card piles.</a:t>
            </a:r>
          </a:p>
        </p:txBody>
      </p:sp>
    </p:spTree>
    <p:extLst>
      <p:ext uri="{BB962C8B-B14F-4D97-AF65-F5344CB8AC3E}">
        <p14:creationId xmlns:p14="http://schemas.microsoft.com/office/powerpoint/2010/main" val="73746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BF34FC-6C0C-4168-9DA6-6672ECB5AAF2}"/>
              </a:ext>
            </a:extLst>
          </p:cNvPr>
          <p:cNvSpPr>
            <a:spLocks xmlns:a="http://schemas.openxmlformats.org/drawingml/2006/main" noGrp="1"/>
          </p:cNvSpPr>
          <p:nvPr/>
        </p:nvSpPr>
        <p:spPr>
          <a:xfrm xmlns:a="http://schemas.openxmlformats.org/drawingml/2006/main">
            <a:off x="609600" y="3048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C64600"/>
                </a:solidFill>
                <a:latin typeface="Consolas"/>
                <a:ea typeface="Consolas"/>
                <a:cs typeface="Consolas"/>
              </a:defRPr>
            </a:pPr>
            <a:r>
              <a:rPr sz="1275" b="1">
                <a:solidFill>
                  <a:srgbClr val="C64600"/>
                </a:solidFill>
                <a:latin typeface="Consolas"/>
                <a:ea typeface="Consolas"/>
                <a:cs typeface="Consolas"/>
              </a:rPr>
              <a:t>01  /  MVP</a:t>
            </a:r>
          </a:p>
        </p:txBody>
      </p:sp>
      <p:sp>
        <p:nvSpPr>
          <p:cNvPr id="2" name="">
            <a:extLst xmlns:a="http://schemas.openxmlformats.org/drawingml/2006/main">
              <a:ext uri="{FF2B5EF4-FFF2-40B4-BE49-F238E27FC236}">
                <a16:creationId xmlns:a16="http://schemas.microsoft.com/office/drawing/2014/main" id="{B8FFB335-4221-4A00-B272-5BC481455CCA}"/>
              </a:ext>
            </a:extLst>
          </p:cNvPr>
          <p:cNvSpPr>
            <a:spLocks xmlns:a="http://schemas.openxmlformats.org/drawingml/2006/main" noGrp="1"/>
          </p:cNvSpPr>
          <p:nvPr/>
        </p:nvSpPr>
        <p:spPr>
          <a:xfrm xmlns:a="http://schemas.openxmlformats.org/drawingml/2006/main">
            <a:off x="609600" y="7810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212B"/>
                </a:solidFill>
                <a:latin typeface="Arial"/>
                <a:ea typeface="Arial"/>
                <a:cs typeface="Arial"/>
              </a:defRPr>
            </a:pPr>
            <a:r>
              <a:rPr sz="3450" b="1">
                <a:solidFill>
                  <a:srgbClr val="17212B"/>
                </a:solidFill>
                <a:latin typeface="Arial"/>
                <a:ea typeface="Arial"/>
                <a:cs typeface="Arial"/>
              </a:rPr>
              <a:t>Spec changes and stretch goals</a:t>
            </a:r>
          </a:p>
        </p:txBody>
      </p:sp>
      <p:sp>
        <p:nvSpPr>
          <p:cNvPr id="3" name="">
            <a:extLst xmlns:a="http://schemas.openxmlformats.org/drawingml/2006/main">
              <a:ext uri="{FF2B5EF4-FFF2-40B4-BE49-F238E27FC236}">
                <a16:creationId xmlns:a16="http://schemas.microsoft.com/office/drawing/2014/main" id="{CBDF8961-213E-40E5-A28D-ED14B58BDA24}"/>
              </a:ext>
            </a:extLst>
          </p:cNvPr>
          <p:cNvSpPr>
            <a:spLocks xmlns:a="http://schemas.openxmlformats.org/drawingml/2006/main" noGrp="1"/>
          </p:cNvSpPr>
          <p:nvPr/>
        </p:nvSpPr>
        <p:spPr>
          <a:xfrm xmlns:a="http://schemas.openxmlformats.org/drawingml/2006/main">
            <a:off x="10610850" y="6305550"/>
            <a:ext cx="109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9616B"/>
                </a:solidFill>
                <a:latin typeface="Consolas"/>
                <a:ea typeface="Consolas"/>
                <a:cs typeface="Consolas"/>
              </a:defRPr>
            </a:pPr>
            <a:r>
              <a:rPr sz="1200" b="0">
                <a:solidFill>
                  <a:srgbClr val="59616B"/>
                </a:solidFill>
                <a:latin typeface="Consolas"/>
                <a:ea typeface="Consolas"/>
                <a:cs typeface="Consolas"/>
              </a:rPr>
              <a:t>04 / 09</a:t>
            </a:r>
          </a:p>
        </p:txBody>
      </p:sp>
      <p:sp>
        <p:nvSpPr>
          <p:cNvPr id="6" name="">
            <a:extLst xmlns:a="http://schemas.openxmlformats.org/drawingml/2006/main">
              <a:ext uri="{FF2B5EF4-FFF2-40B4-BE49-F238E27FC236}">
                <a16:creationId xmlns:a16="http://schemas.microsoft.com/office/drawing/2014/main" id="{E52D46C2-109E-4E63-A9D3-B0E92BBC413D}"/>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16B"/>
                </a:solidFill>
                <a:latin typeface="Consolas"/>
                <a:ea typeface="Consolas"/>
                <a:cs typeface="Consolas"/>
              </a:defRPr>
            </a:pPr>
            <a:r>
              <a:rPr sz="1125" b="0">
                <a:solidFill>
                  <a:srgbClr val="59616B"/>
                </a:solidFill>
                <a:latin typeface="Consolas"/>
                <a:ea typeface="Consolas"/>
                <a:cs typeface="Consolas"/>
              </a:rPr>
              <a:t>SLAYVT  /  VIRGINIA TECH</a:t>
            </a:r>
          </a:p>
        </p:txBody>
      </p:sp>
      <p:sp>
        <p:nvSpPr>
          <p:cNvPr id="7" name="">
            <a:extLst xmlns:a="http://schemas.openxmlformats.org/drawingml/2006/main">
              <a:ext uri="{FF2B5EF4-FFF2-40B4-BE49-F238E27FC236}">
                <a16:creationId xmlns:a16="http://schemas.microsoft.com/office/drawing/2014/main" id="{0B33550A-E183-435F-A7B8-083E0A8CE7CE}"/>
              </a:ext>
            </a:extLst>
          </p:cNvPr>
          <p:cNvSpPr>
            <a:spLocks xmlns:a="http://schemas.openxmlformats.org/drawingml/2006/main" noGrp="1"/>
          </p:cNvSpPr>
          <p:nvPr/>
        </p:nvSpPr>
        <p:spPr>
          <a:xfrm xmlns:a="http://schemas.openxmlformats.org/drawingml/2006/main">
            <a:off x="666750" y="19907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64600"/>
                </a:solidFill>
                <a:latin typeface="Consolas"/>
                <a:ea typeface="Consolas"/>
                <a:cs typeface="Consolas"/>
              </a:defRPr>
            </a:pPr>
            <a:r>
              <a:rPr sz="1650" b="1">
                <a:solidFill>
                  <a:srgbClr val="C64600"/>
                </a:solidFill>
                <a:latin typeface="Consolas"/>
                <a:ea typeface="Consolas"/>
                <a:cs typeface="Consolas"/>
              </a:rPr>
              <a:t>CUT FOR TIME</a:t>
            </a:r>
          </a:p>
        </p:txBody>
      </p:sp>
      <p:sp>
        <p:nvSpPr>
          <p:cNvPr id="8" name="">
            <a:extLst xmlns:a="http://schemas.openxmlformats.org/drawingml/2006/main">
              <a:ext uri="{FF2B5EF4-FFF2-40B4-BE49-F238E27FC236}">
                <a16:creationId xmlns:a16="http://schemas.microsoft.com/office/drawing/2014/main" id="{84BC4E3F-63D4-40EA-8464-A819B8D3B590}"/>
              </a:ext>
            </a:extLst>
          </p:cNvPr>
          <p:cNvSpPr>
            <a:spLocks xmlns:a="http://schemas.openxmlformats.org/drawingml/2006/main" noGrp="1"/>
          </p:cNvSpPr>
          <p:nvPr/>
        </p:nvSpPr>
        <p:spPr>
          <a:xfrm xmlns:a="http://schemas.openxmlformats.org/drawingml/2006/main">
            <a:off x="666750" y="2667000"/>
            <a:ext cx="47625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800"/>
              </a:spcAft>
              <a:buChar char="•"/>
              <a:defRPr sz="2175" b="0">
                <a:solidFill>
                  <a:srgbClr val="17212B"/>
                </a:solidFill>
                <a:latin typeface="Arial"/>
                <a:ea typeface="Arial"/>
                <a:cs typeface="Arial"/>
              </a:defRPr>
            </a:pPr>
            <a:r>
              <a:rPr sz="2175" b="0">
                <a:solidFill>
                  <a:srgbClr val="17212B"/>
                </a:solidFill>
                <a:latin typeface="Arial"/>
                <a:ea typeface="Arial"/>
                <a:cs typeface="Arial"/>
              </a:rPr>
              <a:t>Relics and potions</a:t>
            </a:r>
          </a:p>
          <a:p xmlns:a="http://schemas.openxmlformats.org/drawingml/2006/main">
            <a:pPr marL="241300" indent="-114300">
              <a:spcAft>
                <a:spcPts val="1800"/>
              </a:spcAft>
              <a:buChar char="•"/>
              <a:defRPr sz="2175" b="0">
                <a:solidFill>
                  <a:srgbClr val="17212B"/>
                </a:solidFill>
                <a:latin typeface="Arial"/>
                <a:ea typeface="Arial"/>
                <a:cs typeface="Arial"/>
              </a:defRPr>
            </a:pPr>
            <a:r>
              <a:rPr sz="2175" b="0">
                <a:solidFill>
                  <a:srgbClr val="17212B"/>
                </a:solidFill>
                <a:latin typeface="Arial"/>
                <a:ea typeface="Arial"/>
                <a:cs typeface="Arial"/>
              </a:rPr>
              <a:t>Some planned cards and events</a:t>
            </a:r>
          </a:p>
          <a:p xmlns:a="http://schemas.openxmlformats.org/drawingml/2006/main">
            <a:pPr marL="241300" indent="-114300">
              <a:spcAft>
                <a:spcPts val="1800"/>
              </a:spcAft>
              <a:buChar char="•"/>
              <a:defRPr sz="2175" b="0">
                <a:solidFill>
                  <a:srgbClr val="17212B"/>
                </a:solidFill>
                <a:latin typeface="Arial"/>
                <a:ea typeface="Arial"/>
                <a:cs typeface="Arial"/>
              </a:defRPr>
            </a:pPr>
            <a:r>
              <a:rPr sz="2175" b="0">
                <a:solidFill>
                  <a:srgbClr val="17212B"/>
                </a:solidFill>
                <a:latin typeface="Arial"/>
                <a:ea typeface="Arial"/>
                <a:cs typeface="Arial"/>
              </a:rPr>
              <a:t>Further balance and encounter refinement</a:t>
            </a:r>
          </a:p>
        </p:txBody>
      </p:sp>
      <p:sp>
        <p:nvSpPr>
          <p:cNvPr id="9" name="">
            <a:extLst xmlns:a="http://schemas.openxmlformats.org/drawingml/2006/main">
              <a:ext uri="{FF2B5EF4-FFF2-40B4-BE49-F238E27FC236}">
                <a16:creationId xmlns:a16="http://schemas.microsoft.com/office/drawing/2014/main" id="{DD2DF007-D4DD-4EFB-9921-B0965C69DC92}"/>
              </a:ext>
            </a:extLst>
          </p:cNvPr>
          <p:cNvSpPr>
            <a:spLocks xmlns:a="http://schemas.openxmlformats.org/drawingml/2006/main" noGrp="1"/>
          </p:cNvSpPr>
          <p:nvPr/>
        </p:nvSpPr>
        <p:spPr>
          <a:xfrm xmlns:a="http://schemas.openxmlformats.org/drawingml/2006/main">
            <a:off x="6667500" y="19907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61F41"/>
                </a:solidFill>
                <a:latin typeface="Consolas"/>
                <a:ea typeface="Consolas"/>
                <a:cs typeface="Consolas"/>
              </a:defRPr>
            </a:pPr>
            <a:r>
              <a:rPr sz="1650" b="1">
                <a:solidFill>
                  <a:srgbClr val="861F41"/>
                </a:solidFill>
                <a:latin typeface="Consolas"/>
                <a:ea typeface="Consolas"/>
                <a:cs typeface="Consolas"/>
              </a:rPr>
              <a:t>TEAM-DESIGNED</a:t>
            </a:r>
          </a:p>
        </p:txBody>
      </p:sp>
      <p:sp>
        <p:nvSpPr>
          <p:cNvPr id="10" name="">
            <a:extLst xmlns:a="http://schemas.openxmlformats.org/drawingml/2006/main">
              <a:ext uri="{FF2B5EF4-FFF2-40B4-BE49-F238E27FC236}">
                <a16:creationId xmlns:a16="http://schemas.microsoft.com/office/drawing/2014/main" id="{0177F5E9-695A-4BED-9E18-B4535E4874F7}"/>
              </a:ext>
            </a:extLst>
          </p:cNvPr>
          <p:cNvSpPr>
            <a:spLocks xmlns:a="http://schemas.openxmlformats.org/drawingml/2006/main" noGrp="1"/>
          </p:cNvSpPr>
          <p:nvPr/>
        </p:nvSpPr>
        <p:spPr>
          <a:xfrm xmlns:a="http://schemas.openxmlformats.org/drawingml/2006/main">
            <a:off x="6667500" y="2667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800"/>
              </a:spcAft>
              <a:buChar char="•"/>
              <a:defRPr sz="2175" b="0">
                <a:solidFill>
                  <a:srgbClr val="17212B"/>
                </a:solidFill>
                <a:latin typeface="Arial"/>
                <a:ea typeface="Arial"/>
                <a:cs typeface="Arial"/>
              </a:defRPr>
            </a:pPr>
            <a:r>
              <a:rPr sz="2175" b="0">
                <a:solidFill>
                  <a:srgbClr val="17212B"/>
                </a:solidFill>
                <a:latin typeface="Arial"/>
                <a:ea typeface="Arial"/>
                <a:cs typeface="Arial"/>
              </a:rPr>
              <a:t>Original cards and temperature mechanic</a:t>
            </a:r>
          </a:p>
          <a:p xmlns:a="http://schemas.openxmlformats.org/drawingml/2006/main">
            <a:pPr marL="241300" indent="-114300">
              <a:spcAft>
                <a:spcPts val="1800"/>
              </a:spcAft>
              <a:buChar char="•"/>
              <a:defRPr sz="2175" b="0">
                <a:solidFill>
                  <a:srgbClr val="17212B"/>
                </a:solidFill>
                <a:latin typeface="Arial"/>
                <a:ea typeface="Arial"/>
                <a:cs typeface="Arial"/>
              </a:defRPr>
            </a:pPr>
            <a:r>
              <a:rPr sz="2175" b="0">
                <a:solidFill>
                  <a:srgbClr val="17212B"/>
                </a:solidFill>
                <a:latin typeface="Arial"/>
                <a:ea typeface="Arial"/>
                <a:cs typeface="Arial"/>
              </a:rPr>
              <a:t>A foundation for a future game mod</a:t>
            </a:r>
          </a:p>
        </p:txBody>
      </p:sp>
      <p:sp>
        <p:nvSpPr>
          <p:cNvPr id="11" name="">
            <a:extLst xmlns:a="http://schemas.openxmlformats.org/drawingml/2006/main">
              <a:ext uri="{FF2B5EF4-FFF2-40B4-BE49-F238E27FC236}">
                <a16:creationId xmlns:a16="http://schemas.microsoft.com/office/drawing/2014/main" id="{F6ED3247-860F-4C7C-96F2-A80A80AA38A8}"/>
              </a:ext>
            </a:extLst>
          </p:cNvPr>
          <p:cNvSpPr>
            <a:spLocks xmlns:a="http://schemas.openxmlformats.org/drawingml/2006/main" noGrp="1"/>
          </p:cNvSpPr>
          <p:nvPr/>
        </p:nvSpPr>
        <p:spPr>
          <a:xfrm xmlns:a="http://schemas.openxmlformats.org/drawingml/2006/main">
            <a:off x="666750" y="5572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61F41"/>
                </a:solidFill>
                <a:latin typeface="Arial"/>
                <a:ea typeface="Arial"/>
                <a:cs typeface="Arial"/>
              </a:defRPr>
            </a:pPr>
            <a:r>
              <a:rPr sz="2100" b="1">
                <a:solidFill>
                  <a:srgbClr val="861F41"/>
                </a:solidFill>
                <a:latin typeface="Arial"/>
                <a:ea typeface="Arial"/>
                <a:cs typeface="Arial"/>
              </a:rPr>
              <a:t>Our priority: finish a working core game loop</a:t>
            </a:r>
          </a:p>
        </p:txBody>
      </p:sp>
    </p:spTree>
    <p:extLst>
      <p:ext uri="{BB962C8B-B14F-4D97-AF65-F5344CB8AC3E}">
        <p14:creationId xmlns:p14="http://schemas.microsoft.com/office/powerpoint/2010/main" val="15434439"/>
      </p:ext>
    </p:extLst>
  </p:cSld>
</p:sld>
</file>

<file path=ppt/slides/slide5.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c67171526984ab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C2DDD87-5CF5-4487-9AF6-D0AAFEBF80D1}"/>
              </a:ext>
            </a:extLst>
          </p:cNvPr>
          <p:cNvSpPr>
            <a:spLocks xmlns:a="http://schemas.openxmlformats.org/drawingml/2006/main" noGrp="1"/>
          </p:cNvSpPr>
          <p:nvPr/>
        </p:nvSpPr>
        <p:spPr>
          <a:xfrm xmlns:a="http://schemas.openxmlformats.org/drawingml/2006/main">
            <a:off x="609600" y="3048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E5751F"/>
                </a:solidFill>
                <a:latin typeface="Consolas"/>
                <a:ea typeface="Consolas"/>
                <a:cs typeface="Consolas"/>
              </a:defRPr>
            </a:pPr>
            <a:r>
              <a:rPr sz="1275" b="1">
                <a:solidFill>
                  <a:srgbClr val="E5751F"/>
                </a:solidFill>
                <a:latin typeface="Consolas"/>
                <a:ea typeface="Consolas"/>
                <a:cs typeface="Consolas"/>
              </a:rPr>
              <a:t>02  /  DEMO</a:t>
            </a:r>
          </a:p>
        </p:txBody>
      </p:sp>
      <p:sp>
        <p:nvSpPr>
          <p:cNvPr id="9" name="">
            <a:extLst xmlns:a="http://schemas.openxmlformats.org/drawingml/2006/main">
              <a:ext uri="{FF2B5EF4-FFF2-40B4-BE49-F238E27FC236}">
                <a16:creationId xmlns:a16="http://schemas.microsoft.com/office/drawing/2014/main" id="{8E14EBFF-09D7-492B-A8D8-D6BC1A37098B}"/>
              </a:ext>
            </a:extLst>
          </p:cNvPr>
          <p:cNvSpPr>
            <a:spLocks xmlns:a="http://schemas.openxmlformats.org/drawingml/2006/main" noGrp="1"/>
          </p:cNvSpPr>
          <p:nvPr/>
        </p:nvSpPr>
        <p:spPr>
          <a:xfrm xmlns:a="http://schemas.openxmlformats.org/drawingml/2006/main">
            <a:off x="609600" y="990600"/>
            <a:ext cx="685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7F7F4"/>
                </a:solidFill>
                <a:latin typeface="Arial"/>
                <a:ea typeface="Arial"/>
                <a:cs typeface="Arial"/>
              </a:defRPr>
            </a:pPr>
            <a:r>
              <a:rPr sz="4350" b="1">
                <a:solidFill>
                  <a:srgbClr val="F7F7F4"/>
                </a:solidFill>
                <a:latin typeface="Arial"/>
                <a:ea typeface="Arial"/>
                <a:cs typeface="Arial"/>
              </a:rPr>
              <a:t>Live demo</a:t>
            </a:r>
          </a:p>
        </p:txBody>
      </p:sp>
      <p:sp>
        <p:nvSpPr>
          <p:cNvPr id="10" name="">
            <a:extLst xmlns:a="http://schemas.openxmlformats.org/drawingml/2006/main">
              <a:ext uri="{FF2B5EF4-FFF2-40B4-BE49-F238E27FC236}">
                <a16:creationId xmlns:a16="http://schemas.microsoft.com/office/drawing/2014/main" id="{9F3610C6-D270-4036-AF91-709ABD6EAF7E}"/>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7C1CB"/>
                </a:solidFill>
                <a:latin typeface="Consolas"/>
                <a:ea typeface="Consolas"/>
                <a:cs typeface="Consolas"/>
              </a:defRPr>
            </a:pPr>
            <a:r>
              <a:rPr sz="1125" b="0">
                <a:solidFill>
                  <a:srgbClr val="B7C1CB"/>
                </a:solidFill>
                <a:latin typeface="Consolas"/>
                <a:ea typeface="Consolas"/>
                <a:cs typeface="Consolas"/>
              </a:rPr>
              <a:t>SLAYVT  /  VIRGINIA TECH</a:t>
            </a:r>
          </a:p>
        </p:txBody>
      </p:sp>
      <p:sp>
        <p:nvSpPr>
          <p:cNvPr id="11" name="">
            <a:extLst xmlns:a="http://schemas.openxmlformats.org/drawingml/2006/main">
              <a:ext uri="{FF2B5EF4-FFF2-40B4-BE49-F238E27FC236}">
                <a16:creationId xmlns:a16="http://schemas.microsoft.com/office/drawing/2014/main" id="{DBF25FF3-2E73-4C06-AA29-DA15BDC85AFB}"/>
              </a:ext>
            </a:extLst>
          </p:cNvPr>
          <p:cNvSpPr>
            <a:spLocks xmlns:a="http://schemas.openxmlformats.org/drawingml/2006/main" noGrp="1"/>
          </p:cNvSpPr>
          <p:nvPr/>
        </p:nvSpPr>
        <p:spPr>
          <a:xfrm xmlns:a="http://schemas.openxmlformats.org/drawingml/2006/main">
            <a:off x="10610850" y="6305550"/>
            <a:ext cx="109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7C1CB"/>
                </a:solidFill>
                <a:latin typeface="Consolas"/>
                <a:ea typeface="Consolas"/>
                <a:cs typeface="Consolas"/>
              </a:defRPr>
            </a:pPr>
            <a:r>
              <a:rPr sz="1200" b="0">
                <a:solidFill>
                  <a:srgbClr val="B7C1CB"/>
                </a:solidFill>
                <a:latin typeface="Consolas"/>
                <a:ea typeface="Consolas"/>
                <a:cs typeface="Consolas"/>
              </a:rPr>
              <a:t>05 / 09</a:t>
            </a:r>
          </a:p>
        </p:txBody>
      </p:sp>
      <p:sp>
        <p:nvSpPr>
          <p:cNvPr id="12" name="">
            <a:extLst xmlns:a="http://schemas.openxmlformats.org/drawingml/2006/main">
              <a:ext uri="{FF2B5EF4-FFF2-40B4-BE49-F238E27FC236}">
                <a16:creationId xmlns:a16="http://schemas.microsoft.com/office/drawing/2014/main" id="{82886F29-2355-4376-BAFB-2BD78F105DC0}"/>
              </a:ext>
            </a:extLst>
          </p:cNvPr>
          <p:cNvSpPr>
            <a:spLocks xmlns:a="http://schemas.openxmlformats.org/drawingml/2006/main" noGrp="1"/>
          </p:cNvSpPr>
          <p:nvPr/>
        </p:nvSpPr>
        <p:spPr>
          <a:xfrm xmlns:a="http://schemas.openxmlformats.org/drawingml/2006/main">
            <a:off x="666750" y="20859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E5751F"/>
                </a:solidFill>
                <a:latin typeface="Consolas"/>
                <a:ea typeface="Consolas"/>
                <a:cs typeface="Consolas"/>
              </a:defRPr>
            </a:pPr>
            <a:r>
              <a:rPr sz="1875" b="1">
                <a:solidFill>
                  <a:srgbClr val="E5751F"/>
                </a:solidFill>
                <a:latin typeface="Consolas"/>
                <a:ea typeface="Consolas"/>
                <a:cs typeface="Consolas"/>
              </a:rPr>
              <a:t>01</a:t>
            </a:r>
          </a:p>
        </p:txBody>
      </p:sp>
      <p:sp>
        <p:nvSpPr>
          <p:cNvPr id="13" name="">
            <a:extLst xmlns:a="http://schemas.openxmlformats.org/drawingml/2006/main">
              <a:ext uri="{FF2B5EF4-FFF2-40B4-BE49-F238E27FC236}">
                <a16:creationId xmlns:a16="http://schemas.microsoft.com/office/drawing/2014/main" id="{BFEF32EF-5AB5-4BD4-B552-12C9826EE600}"/>
              </a:ext>
            </a:extLst>
          </p:cNvPr>
          <p:cNvSpPr>
            <a:spLocks xmlns:a="http://schemas.openxmlformats.org/drawingml/2006/main" noGrp="1"/>
          </p:cNvSpPr>
          <p:nvPr/>
        </p:nvSpPr>
        <p:spPr>
          <a:xfrm xmlns:a="http://schemas.openxmlformats.org/drawingml/2006/main">
            <a:off x="1514475" y="20669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7F7F4"/>
                </a:solidFill>
                <a:latin typeface="Arial"/>
                <a:ea typeface="Arial"/>
                <a:cs typeface="Arial"/>
              </a:defRPr>
            </a:pPr>
            <a:r>
              <a:rPr sz="2175" b="1">
                <a:solidFill>
                  <a:srgbClr val="F7F7F4"/>
                </a:solidFill>
                <a:latin typeface="Arial"/>
                <a:ea typeface="Arial"/>
                <a:cs typeface="Arial"/>
              </a:rPr>
              <a:t>Start a short run</a:t>
            </a:r>
          </a:p>
        </p:txBody>
      </p:sp>
      <p:sp>
        <p:nvSpPr>
          <p:cNvPr id="14" name="">
            <a:extLst xmlns:a="http://schemas.openxmlformats.org/drawingml/2006/main">
              <a:ext uri="{FF2B5EF4-FFF2-40B4-BE49-F238E27FC236}">
                <a16:creationId xmlns:a16="http://schemas.microsoft.com/office/drawing/2014/main" id="{08E029CD-7C1C-4394-AFFF-2E942EE43DEC}"/>
              </a:ext>
            </a:extLst>
          </p:cNvPr>
          <p:cNvSpPr>
            <a:spLocks xmlns:a="http://schemas.openxmlformats.org/drawingml/2006/main" noGrp="1"/>
          </p:cNvSpPr>
          <p:nvPr/>
        </p:nvSpPr>
        <p:spPr>
          <a:xfrm xmlns:a="http://schemas.openxmlformats.org/drawingml/2006/main">
            <a:off x="1514475" y="2438400"/>
            <a:ext cx="600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7C1CB"/>
                </a:solidFill>
                <a:latin typeface="Arial"/>
                <a:ea typeface="Arial"/>
                <a:cs typeface="Arial"/>
              </a:defRPr>
            </a:pPr>
            <a:r>
              <a:rPr sz="1650" b="0">
                <a:solidFill>
                  <a:srgbClr val="B7C1CB"/>
                </a:solidFill>
                <a:latin typeface="Arial"/>
                <a:ea typeface="Arial"/>
                <a:cs typeface="Arial"/>
              </a:rPr>
              <a:t>Test Mode and room choices</a:t>
            </a:r>
          </a:p>
        </p:txBody>
      </p:sp>
      <p:sp>
        <p:nvSpPr>
          <p:cNvPr id="15" name="">
            <a:extLst xmlns:a="http://schemas.openxmlformats.org/drawingml/2006/main">
              <a:ext uri="{FF2B5EF4-FFF2-40B4-BE49-F238E27FC236}">
                <a16:creationId xmlns:a16="http://schemas.microsoft.com/office/drawing/2014/main" id="{8BBA4CA4-FFE3-44AE-A120-42379C2A35E6}"/>
              </a:ext>
            </a:extLst>
          </p:cNvPr>
          <p:cNvSpPr>
            <a:spLocks xmlns:a="http://schemas.openxmlformats.org/drawingml/2006/main" noGrp="1"/>
          </p:cNvSpPr>
          <p:nvPr/>
        </p:nvSpPr>
        <p:spPr>
          <a:xfrm xmlns:a="http://schemas.openxmlformats.org/drawingml/2006/main">
            <a:off x="666750" y="30099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E5751F"/>
                </a:solidFill>
                <a:latin typeface="Consolas"/>
                <a:ea typeface="Consolas"/>
                <a:cs typeface="Consolas"/>
              </a:defRPr>
            </a:pPr>
            <a:r>
              <a:rPr sz="1875" b="1">
                <a:solidFill>
                  <a:srgbClr val="E5751F"/>
                </a:solidFill>
                <a:latin typeface="Consolas"/>
                <a:ea typeface="Consolas"/>
                <a:cs typeface="Consolas"/>
              </a:rPr>
              <a:t>02</a:t>
            </a:r>
          </a:p>
        </p:txBody>
      </p:sp>
      <p:sp>
        <p:nvSpPr>
          <p:cNvPr id="16" name="">
            <a:extLst xmlns:a="http://schemas.openxmlformats.org/drawingml/2006/main">
              <a:ext uri="{FF2B5EF4-FFF2-40B4-BE49-F238E27FC236}">
                <a16:creationId xmlns:a16="http://schemas.microsoft.com/office/drawing/2014/main" id="{6A30CF4E-CA33-4DF4-BCB1-25124F723A47}"/>
              </a:ext>
            </a:extLst>
          </p:cNvPr>
          <p:cNvSpPr>
            <a:spLocks xmlns:a="http://schemas.openxmlformats.org/drawingml/2006/main" noGrp="1"/>
          </p:cNvSpPr>
          <p:nvPr/>
        </p:nvSpPr>
        <p:spPr>
          <a:xfrm xmlns:a="http://schemas.openxmlformats.org/drawingml/2006/main">
            <a:off x="1514475" y="29908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7F7F4"/>
                </a:solidFill>
                <a:latin typeface="Arial"/>
                <a:ea typeface="Arial"/>
                <a:cs typeface="Arial"/>
              </a:defRPr>
            </a:pPr>
            <a:r>
              <a:rPr sz="2175" b="1">
                <a:solidFill>
                  <a:srgbClr val="F7F7F4"/>
                </a:solidFill>
                <a:latin typeface="Arial"/>
                <a:ea typeface="Arial"/>
                <a:cs typeface="Arial"/>
              </a:rPr>
              <a:t>Play a battle</a:t>
            </a:r>
          </a:p>
        </p:txBody>
      </p:sp>
      <p:sp>
        <p:nvSpPr>
          <p:cNvPr id="17" name="">
            <a:extLst xmlns:a="http://schemas.openxmlformats.org/drawingml/2006/main">
              <a:ext uri="{FF2B5EF4-FFF2-40B4-BE49-F238E27FC236}">
                <a16:creationId xmlns:a16="http://schemas.microsoft.com/office/drawing/2014/main" id="{BA25ECB8-A8B7-4165-A116-7A591F9FDDC7}"/>
              </a:ext>
            </a:extLst>
          </p:cNvPr>
          <p:cNvSpPr>
            <a:spLocks xmlns:a="http://schemas.openxmlformats.org/drawingml/2006/main" noGrp="1"/>
          </p:cNvSpPr>
          <p:nvPr/>
        </p:nvSpPr>
        <p:spPr>
          <a:xfrm xmlns:a="http://schemas.openxmlformats.org/drawingml/2006/main">
            <a:off x="1514475" y="3362325"/>
            <a:ext cx="600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7C1CB"/>
                </a:solidFill>
                <a:latin typeface="Arial"/>
                <a:ea typeface="Arial"/>
                <a:cs typeface="Arial"/>
              </a:defRPr>
            </a:pPr>
            <a:r>
              <a:rPr sz="1650" b="0">
                <a:solidFill>
                  <a:srgbClr val="B7C1CB"/>
                </a:solidFill>
                <a:latin typeface="Arial"/>
                <a:ea typeface="Arial"/>
                <a:cs typeface="Arial"/>
              </a:rPr>
              <a:t>Enemy intent, Energy, temperature reversal</a:t>
            </a:r>
          </a:p>
        </p:txBody>
      </p:sp>
      <p:sp>
        <p:nvSpPr>
          <p:cNvPr id="18" name="">
            <a:extLst xmlns:a="http://schemas.openxmlformats.org/drawingml/2006/main">
              <a:ext uri="{FF2B5EF4-FFF2-40B4-BE49-F238E27FC236}">
                <a16:creationId xmlns:a16="http://schemas.microsoft.com/office/drawing/2014/main" id="{680F736E-713E-4DC6-92F9-81C98D37D46D}"/>
              </a:ext>
            </a:extLst>
          </p:cNvPr>
          <p:cNvSpPr>
            <a:spLocks xmlns:a="http://schemas.openxmlformats.org/drawingml/2006/main" noGrp="1"/>
          </p:cNvSpPr>
          <p:nvPr/>
        </p:nvSpPr>
        <p:spPr>
          <a:xfrm xmlns:a="http://schemas.openxmlformats.org/drawingml/2006/main">
            <a:off x="666750" y="39338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E5751F"/>
                </a:solidFill>
                <a:latin typeface="Consolas"/>
                <a:ea typeface="Consolas"/>
                <a:cs typeface="Consolas"/>
              </a:defRPr>
            </a:pPr>
            <a:r>
              <a:rPr sz="1875" b="1">
                <a:solidFill>
                  <a:srgbClr val="E5751F"/>
                </a:solidFill>
                <a:latin typeface="Consolas"/>
                <a:ea typeface="Consolas"/>
                <a:cs typeface="Consolas"/>
              </a:rPr>
              <a:t>03</a:t>
            </a:r>
          </a:p>
        </p:txBody>
      </p:sp>
      <p:sp>
        <p:nvSpPr>
          <p:cNvPr id="19" name="">
            <a:extLst xmlns:a="http://schemas.openxmlformats.org/drawingml/2006/main">
              <a:ext uri="{FF2B5EF4-FFF2-40B4-BE49-F238E27FC236}">
                <a16:creationId xmlns:a16="http://schemas.microsoft.com/office/drawing/2014/main" id="{9F2522E2-026B-4997-B956-A541D1D1745B}"/>
              </a:ext>
            </a:extLst>
          </p:cNvPr>
          <p:cNvSpPr>
            <a:spLocks xmlns:a="http://schemas.openxmlformats.org/drawingml/2006/main" noGrp="1"/>
          </p:cNvSpPr>
          <p:nvPr/>
        </p:nvSpPr>
        <p:spPr>
          <a:xfrm xmlns:a="http://schemas.openxmlformats.org/drawingml/2006/main">
            <a:off x="1514475" y="39147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7F7F4"/>
                </a:solidFill>
                <a:latin typeface="Arial"/>
                <a:ea typeface="Arial"/>
                <a:cs typeface="Arial"/>
              </a:defRPr>
            </a:pPr>
            <a:r>
              <a:rPr sz="2175" b="1">
                <a:solidFill>
                  <a:srgbClr val="F7F7F4"/>
                </a:solidFill>
                <a:latin typeface="Arial"/>
                <a:ea typeface="Arial"/>
                <a:cs typeface="Arial"/>
              </a:rPr>
              <a:t>Make a room choice</a:t>
            </a:r>
          </a:p>
        </p:txBody>
      </p:sp>
      <p:sp>
        <p:nvSpPr>
          <p:cNvPr id="20" name="">
            <a:extLst xmlns:a="http://schemas.openxmlformats.org/drawingml/2006/main">
              <a:ext uri="{FF2B5EF4-FFF2-40B4-BE49-F238E27FC236}">
                <a16:creationId xmlns:a16="http://schemas.microsoft.com/office/drawing/2014/main" id="{2B280C4E-6CD7-49C2-B6B1-BAAD8A197318}"/>
              </a:ext>
            </a:extLst>
          </p:cNvPr>
          <p:cNvSpPr>
            <a:spLocks xmlns:a="http://schemas.openxmlformats.org/drawingml/2006/main" noGrp="1"/>
          </p:cNvSpPr>
          <p:nvPr/>
        </p:nvSpPr>
        <p:spPr>
          <a:xfrm xmlns:a="http://schemas.openxmlformats.org/drawingml/2006/main">
            <a:off x="1514475" y="4286250"/>
            <a:ext cx="600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7C1CB"/>
                </a:solidFill>
                <a:latin typeface="Arial"/>
                <a:ea typeface="Arial"/>
                <a:cs typeface="Arial"/>
              </a:defRPr>
            </a:pPr>
            <a:r>
              <a:rPr sz="1650" b="0">
                <a:solidFill>
                  <a:srgbClr val="B7C1CB"/>
                </a:solidFill>
                <a:latin typeface="Arial"/>
                <a:ea typeface="Arial"/>
                <a:cs typeface="Arial"/>
              </a:rPr>
              <a:t>An event or a Rest Site</a:t>
            </a:r>
          </a:p>
        </p:txBody>
      </p:sp>
      <p:sp>
        <p:nvSpPr>
          <p:cNvPr id="21" name="">
            <a:extLst xmlns:a="http://schemas.openxmlformats.org/drawingml/2006/main">
              <a:ext uri="{FF2B5EF4-FFF2-40B4-BE49-F238E27FC236}">
                <a16:creationId xmlns:a16="http://schemas.microsoft.com/office/drawing/2014/main" id="{BB5A000F-F027-46AA-938C-0C21692E92C2}"/>
              </a:ext>
            </a:extLst>
          </p:cNvPr>
          <p:cNvSpPr>
            <a:spLocks xmlns:a="http://schemas.openxmlformats.org/drawingml/2006/main" noGrp="1"/>
          </p:cNvSpPr>
          <p:nvPr/>
        </p:nvSpPr>
        <p:spPr>
          <a:xfrm xmlns:a="http://schemas.openxmlformats.org/drawingml/2006/main">
            <a:off x="666750" y="4857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E5751F"/>
                </a:solidFill>
                <a:latin typeface="Consolas"/>
                <a:ea typeface="Consolas"/>
                <a:cs typeface="Consolas"/>
              </a:defRPr>
            </a:pPr>
            <a:r>
              <a:rPr sz="1875" b="1">
                <a:solidFill>
                  <a:srgbClr val="E5751F"/>
                </a:solidFill>
                <a:latin typeface="Consolas"/>
                <a:ea typeface="Consolas"/>
                <a:cs typeface="Consolas"/>
              </a:rPr>
              <a:t>04</a:t>
            </a:r>
          </a:p>
        </p:txBody>
      </p:sp>
      <p:sp>
        <p:nvSpPr>
          <p:cNvPr id="22" name="">
            <a:extLst xmlns:a="http://schemas.openxmlformats.org/drawingml/2006/main">
              <a:ext uri="{FF2B5EF4-FFF2-40B4-BE49-F238E27FC236}">
                <a16:creationId xmlns:a16="http://schemas.microsoft.com/office/drawing/2014/main" id="{02E82293-B6B4-431C-8B3F-D290857573EC}"/>
              </a:ext>
            </a:extLst>
          </p:cNvPr>
          <p:cNvSpPr>
            <a:spLocks xmlns:a="http://schemas.openxmlformats.org/drawingml/2006/main" noGrp="1"/>
          </p:cNvSpPr>
          <p:nvPr/>
        </p:nvSpPr>
        <p:spPr>
          <a:xfrm xmlns:a="http://schemas.openxmlformats.org/drawingml/2006/main">
            <a:off x="1514475" y="48387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7F7F4"/>
                </a:solidFill>
                <a:latin typeface="Arial"/>
                <a:ea typeface="Arial"/>
                <a:cs typeface="Arial"/>
              </a:defRPr>
            </a:pPr>
            <a:r>
              <a:rPr sz="2175" b="1">
                <a:solidFill>
                  <a:srgbClr val="F7F7F4"/>
                </a:solidFill>
                <a:latin typeface="Arial"/>
                <a:ea typeface="Arial"/>
                <a:cs typeface="Arial"/>
              </a:rPr>
              <a:t>Try an invalid input</a:t>
            </a:r>
          </a:p>
        </p:txBody>
      </p:sp>
      <p:sp>
        <p:nvSpPr>
          <p:cNvPr id="23" name="">
            <a:extLst xmlns:a="http://schemas.openxmlformats.org/drawingml/2006/main">
              <a:ext uri="{FF2B5EF4-FFF2-40B4-BE49-F238E27FC236}">
                <a16:creationId xmlns:a16="http://schemas.microsoft.com/office/drawing/2014/main" id="{B49029E9-857B-40EF-9C81-A330FE20A412}"/>
              </a:ext>
            </a:extLst>
          </p:cNvPr>
          <p:cNvSpPr>
            <a:spLocks xmlns:a="http://schemas.openxmlformats.org/drawingml/2006/main" noGrp="1"/>
          </p:cNvSpPr>
          <p:nvPr/>
        </p:nvSpPr>
        <p:spPr>
          <a:xfrm xmlns:a="http://schemas.openxmlformats.org/drawingml/2006/main">
            <a:off x="1514475" y="5210175"/>
            <a:ext cx="600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7C1CB"/>
                </a:solidFill>
                <a:latin typeface="Arial"/>
                <a:ea typeface="Arial"/>
                <a:cs typeface="Arial"/>
              </a:defRPr>
            </a:pPr>
            <a:r>
              <a:rPr sz="1650" b="0">
                <a:solidFill>
                  <a:srgbClr val="B7C1CB"/>
                </a:solidFill>
                <a:latin typeface="Arial"/>
                <a:ea typeface="Arial"/>
                <a:cs typeface="Arial"/>
              </a:rPr>
              <a:t>Show the menu recovering</a:t>
            </a:r>
          </a:p>
        </p:txBody>
      </p:sp>
    </p:spTree>
    <p:extLst>
      <p:ext uri="{BB962C8B-B14F-4D97-AF65-F5344CB8AC3E}">
        <p14:creationId xmlns:p14="http://schemas.microsoft.com/office/powerpoint/2010/main" val="1445102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2EC9E2-0C77-4A0F-A954-A25234564497}"/>
              </a:ext>
            </a:extLst>
          </p:cNvPr>
          <p:cNvSpPr>
            <a:spLocks xmlns:a="http://schemas.openxmlformats.org/drawingml/2006/main" noGrp="1"/>
          </p:cNvSpPr>
          <p:nvPr/>
        </p:nvSpPr>
        <p:spPr>
          <a:xfrm xmlns:a="http://schemas.openxmlformats.org/drawingml/2006/main">
            <a:off x="609600" y="3048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C64600"/>
                </a:solidFill>
                <a:latin typeface="Consolas"/>
                <a:ea typeface="Consolas"/>
                <a:cs typeface="Consolas"/>
              </a:defRPr>
            </a:pPr>
            <a:r>
              <a:rPr sz="1275" b="1">
                <a:solidFill>
                  <a:srgbClr val="C64600"/>
                </a:solidFill>
                <a:latin typeface="Consolas"/>
                <a:ea typeface="Consolas"/>
                <a:cs typeface="Consolas"/>
              </a:rPr>
              <a:t>03  /  REFLECTION</a:t>
            </a:r>
          </a:p>
        </p:txBody>
      </p:sp>
      <p:sp>
        <p:nvSpPr>
          <p:cNvPr id="2" name="">
            <a:extLst xmlns:a="http://schemas.openxmlformats.org/drawingml/2006/main">
              <a:ext uri="{FF2B5EF4-FFF2-40B4-BE49-F238E27FC236}">
                <a16:creationId xmlns:a16="http://schemas.microsoft.com/office/drawing/2014/main" id="{7EFAE596-1EC5-4695-A98E-F5D5883B7F0C}"/>
              </a:ext>
            </a:extLst>
          </p:cNvPr>
          <p:cNvSpPr>
            <a:spLocks xmlns:a="http://schemas.openxmlformats.org/drawingml/2006/main" noGrp="1"/>
          </p:cNvSpPr>
          <p:nvPr/>
        </p:nvSpPr>
        <p:spPr>
          <a:xfrm xmlns:a="http://schemas.openxmlformats.org/drawingml/2006/main">
            <a:off x="609600" y="7810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212B"/>
                </a:solidFill>
                <a:latin typeface="Arial"/>
                <a:ea typeface="Arial"/>
                <a:cs typeface="Arial"/>
              </a:defRPr>
            </a:pPr>
            <a:r>
              <a:rPr sz="3450" b="1">
                <a:solidFill>
                  <a:srgbClr val="17212B"/>
                </a:solidFill>
                <a:latin typeface="Arial"/>
                <a:ea typeface="Arial"/>
                <a:cs typeface="Arial"/>
              </a:rPr>
              <a:t>What was harder than expected</a:t>
            </a:r>
          </a:p>
        </p:txBody>
      </p:sp>
      <p:sp>
        <p:nvSpPr>
          <p:cNvPr id="3" name="">
            <a:extLst xmlns:a="http://schemas.openxmlformats.org/drawingml/2006/main">
              <a:ext uri="{FF2B5EF4-FFF2-40B4-BE49-F238E27FC236}">
                <a16:creationId xmlns:a16="http://schemas.microsoft.com/office/drawing/2014/main" id="{7617DABF-9E33-4F54-9B72-460BF857948C}"/>
              </a:ext>
            </a:extLst>
          </p:cNvPr>
          <p:cNvSpPr>
            <a:spLocks xmlns:a="http://schemas.openxmlformats.org/drawingml/2006/main" noGrp="1"/>
          </p:cNvSpPr>
          <p:nvPr/>
        </p:nvSpPr>
        <p:spPr>
          <a:xfrm xmlns:a="http://schemas.openxmlformats.org/drawingml/2006/main">
            <a:off x="10610850" y="6305550"/>
            <a:ext cx="109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9616B"/>
                </a:solidFill>
                <a:latin typeface="Consolas"/>
                <a:ea typeface="Consolas"/>
                <a:cs typeface="Consolas"/>
              </a:defRPr>
            </a:pPr>
            <a:r>
              <a:rPr sz="1200" b="0">
                <a:solidFill>
                  <a:srgbClr val="59616B"/>
                </a:solidFill>
                <a:latin typeface="Consolas"/>
                <a:ea typeface="Consolas"/>
                <a:cs typeface="Consolas"/>
              </a:rPr>
              <a:t>06 / 09</a:t>
            </a:r>
          </a:p>
        </p:txBody>
      </p:sp>
      <p:sp>
        <p:nvSpPr>
          <p:cNvPr id="6" name="">
            <a:extLst xmlns:a="http://schemas.openxmlformats.org/drawingml/2006/main">
              <a:ext uri="{FF2B5EF4-FFF2-40B4-BE49-F238E27FC236}">
                <a16:creationId xmlns:a16="http://schemas.microsoft.com/office/drawing/2014/main" id="{9F525630-3050-4715-8F77-1AE228FB52B2}"/>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16B"/>
                </a:solidFill>
                <a:latin typeface="Consolas"/>
                <a:ea typeface="Consolas"/>
                <a:cs typeface="Consolas"/>
              </a:defRPr>
            </a:pPr>
            <a:r>
              <a:rPr sz="1125" b="0">
                <a:solidFill>
                  <a:srgbClr val="59616B"/>
                </a:solidFill>
                <a:latin typeface="Consolas"/>
                <a:ea typeface="Consolas"/>
                <a:cs typeface="Consolas"/>
              </a:rPr>
              <a:t>SLAYVT  /  VIRGINIA TECH</a:t>
            </a:r>
          </a:p>
        </p:txBody>
      </p:sp>
      <p:sp>
        <p:nvSpPr>
          <p:cNvPr id="7" name="">
            <a:extLst xmlns:a="http://schemas.openxmlformats.org/drawingml/2006/main">
              <a:ext uri="{FF2B5EF4-FFF2-40B4-BE49-F238E27FC236}">
                <a16:creationId xmlns:a16="http://schemas.microsoft.com/office/drawing/2014/main" id="{B5439B08-D280-4C23-8EC0-8D898F6F7D78}"/>
              </a:ext>
            </a:extLst>
          </p:cNvPr>
          <p:cNvSpPr>
            <a:spLocks xmlns:a="http://schemas.openxmlformats.org/drawingml/2006/main" noGrp="1"/>
          </p:cNvSpPr>
          <p:nvPr/>
        </p:nvSpPr>
        <p:spPr>
          <a:xfrm xmlns:a="http://schemas.openxmlformats.org/drawingml/2006/main">
            <a:off x="657225" y="207645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61F41"/>
                </a:solidFill>
                <a:latin typeface="Arial"/>
                <a:ea typeface="Arial"/>
                <a:cs typeface="Arial"/>
              </a:defRPr>
            </a:pPr>
            <a:r>
              <a:rPr sz="2250" b="1">
                <a:solidFill>
                  <a:srgbClr val="861F41"/>
                </a:solidFill>
                <a:latin typeface="Arial"/>
                <a:ea typeface="Arial"/>
                <a:cs typeface="Arial"/>
              </a:rPr>
              <a:t>Scope to spec</a:t>
            </a:r>
          </a:p>
        </p:txBody>
      </p:sp>
      <p:sp>
        <p:nvSpPr>
          <p:cNvPr id="8" name="">
            <a:extLst xmlns:a="http://schemas.openxmlformats.org/drawingml/2006/main">
              <a:ext uri="{FF2B5EF4-FFF2-40B4-BE49-F238E27FC236}">
                <a16:creationId xmlns:a16="http://schemas.microsoft.com/office/drawing/2014/main" id="{0ABD09FF-4FD0-4E83-894C-26496DB8ADE2}"/>
              </a:ext>
            </a:extLst>
          </p:cNvPr>
          <p:cNvSpPr>
            <a:spLocks xmlns:a="http://schemas.openxmlformats.org/drawingml/2006/main" noGrp="1"/>
          </p:cNvSpPr>
          <p:nvPr/>
        </p:nvSpPr>
        <p:spPr>
          <a:xfrm xmlns:a="http://schemas.openxmlformats.org/drawingml/2006/main">
            <a:off x="4210050" y="2066925"/>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A room needs input handling, state changes,</a:t>
            </a:r>
          </a:p>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output, and invalid-input checks.</a:t>
            </a:r>
          </a:p>
        </p:txBody>
      </p:sp>
      <p:sp>
        <p:nvSpPr>
          <p:cNvPr id="9" name="">
            <a:extLst xmlns:a="http://schemas.openxmlformats.org/drawingml/2006/main">
              <a:ext uri="{FF2B5EF4-FFF2-40B4-BE49-F238E27FC236}">
                <a16:creationId xmlns:a16="http://schemas.microsoft.com/office/drawing/2014/main" id="{E8DEF9EA-0D45-4DCE-B1DC-4A2A1F528090}"/>
              </a:ext>
            </a:extLst>
          </p:cNvPr>
          <p:cNvSpPr>
            <a:spLocks xmlns:a="http://schemas.openxmlformats.org/drawingml/2006/main" noGrp="1"/>
          </p:cNvSpPr>
          <p:nvPr/>
        </p:nvSpPr>
        <p:spPr>
          <a:xfrm xmlns:a="http://schemas.openxmlformats.org/drawingml/2006/main">
            <a:off x="657225" y="34004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61F41"/>
                </a:solidFill>
                <a:latin typeface="Arial"/>
                <a:ea typeface="Arial"/>
                <a:cs typeface="Arial"/>
              </a:defRPr>
            </a:pPr>
            <a:r>
              <a:rPr sz="2250" b="1">
                <a:solidFill>
                  <a:srgbClr val="861F41"/>
                </a:solidFill>
                <a:latin typeface="Arial"/>
                <a:ea typeface="Arial"/>
                <a:cs typeface="Arial"/>
              </a:rPr>
              <a:t>Spec to code</a:t>
            </a:r>
          </a:p>
        </p:txBody>
      </p:sp>
      <p:sp>
        <p:nvSpPr>
          <p:cNvPr id="10" name="">
            <a:extLst xmlns:a="http://schemas.openxmlformats.org/drawingml/2006/main">
              <a:ext uri="{FF2B5EF4-FFF2-40B4-BE49-F238E27FC236}">
                <a16:creationId xmlns:a16="http://schemas.microsoft.com/office/drawing/2014/main" id="{EC29DDA5-5CDF-411C-B4D0-D38184703351}"/>
              </a:ext>
            </a:extLst>
          </p:cNvPr>
          <p:cNvSpPr>
            <a:spLocks xmlns:a="http://schemas.openxmlformats.org/drawingml/2006/main" noGrp="1"/>
          </p:cNvSpPr>
          <p:nvPr/>
        </p:nvSpPr>
        <p:spPr>
          <a:xfrm xmlns:a="http://schemas.openxmlformats.org/drawingml/2006/main">
            <a:off x="4210050" y="3390900"/>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A two-option Rest Site still needs upgraded</a:t>
            </a:r>
          </a:p>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behavior for every upgradeable card.</a:t>
            </a:r>
          </a:p>
        </p:txBody>
      </p:sp>
      <p:sp>
        <p:nvSpPr>
          <p:cNvPr id="11" name="">
            <a:extLst xmlns:a="http://schemas.openxmlformats.org/drawingml/2006/main">
              <a:ext uri="{FF2B5EF4-FFF2-40B4-BE49-F238E27FC236}">
                <a16:creationId xmlns:a16="http://schemas.microsoft.com/office/drawing/2014/main" id="{6134442F-5D04-45D1-B005-2A01DF71C0A5}"/>
              </a:ext>
            </a:extLst>
          </p:cNvPr>
          <p:cNvSpPr>
            <a:spLocks xmlns:a="http://schemas.openxmlformats.org/drawingml/2006/main" noGrp="1"/>
          </p:cNvSpPr>
          <p:nvPr/>
        </p:nvSpPr>
        <p:spPr>
          <a:xfrm xmlns:a="http://schemas.openxmlformats.org/drawingml/2006/main">
            <a:off x="657225" y="472440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61F41"/>
                </a:solidFill>
                <a:latin typeface="Arial"/>
                <a:ea typeface="Arial"/>
                <a:cs typeface="Arial"/>
              </a:defRPr>
            </a:pPr>
            <a:r>
              <a:rPr sz="2250" b="1">
                <a:solidFill>
                  <a:srgbClr val="861F41"/>
                </a:solidFill>
                <a:latin typeface="Arial"/>
                <a:ea typeface="Arial"/>
                <a:cs typeface="Arial"/>
              </a:rPr>
              <a:t>UI trade-off</a:t>
            </a:r>
          </a:p>
        </p:txBody>
      </p:sp>
      <p:sp>
        <p:nvSpPr>
          <p:cNvPr id="12" name="">
            <a:extLst xmlns:a="http://schemas.openxmlformats.org/drawingml/2006/main">
              <a:ext uri="{FF2B5EF4-FFF2-40B4-BE49-F238E27FC236}">
                <a16:creationId xmlns:a16="http://schemas.microsoft.com/office/drawing/2014/main" id="{A9EF607A-FEE6-4CE6-B091-8B5A458059E0}"/>
              </a:ext>
            </a:extLst>
          </p:cNvPr>
          <p:cNvSpPr>
            <a:spLocks xmlns:a="http://schemas.openxmlformats.org/drawingml/2006/main" noGrp="1"/>
          </p:cNvSpPr>
          <p:nvPr/>
        </p:nvSpPr>
        <p:spPr>
          <a:xfrm xmlns:a="http://schemas.openxmlformats.org/drawingml/2006/main">
            <a:off x="4210050" y="4714875"/>
            <a:ext cx="708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The numbered selection works, but large decks</a:t>
            </a:r>
          </a:p>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make scrolling cumbersome.</a:t>
            </a:r>
          </a:p>
        </p:txBody>
      </p:sp>
    </p:spTree>
    <p:extLst>
      <p:ext uri="{BB962C8B-B14F-4D97-AF65-F5344CB8AC3E}">
        <p14:creationId xmlns:p14="http://schemas.microsoft.com/office/powerpoint/2010/main" val="17838455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845B41-04AC-4C0D-8D3A-97500AEF4891}"/>
              </a:ext>
            </a:extLst>
          </p:cNvPr>
          <p:cNvSpPr>
            <a:spLocks xmlns:a="http://schemas.openxmlformats.org/drawingml/2006/main" noGrp="1"/>
          </p:cNvSpPr>
          <p:nvPr/>
        </p:nvSpPr>
        <p:spPr>
          <a:xfrm xmlns:a="http://schemas.openxmlformats.org/drawingml/2006/main">
            <a:off x="609600" y="3048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C64600"/>
                </a:solidFill>
                <a:latin typeface="Consolas"/>
                <a:ea typeface="Consolas"/>
                <a:cs typeface="Consolas"/>
              </a:defRPr>
            </a:pPr>
            <a:r>
              <a:rPr sz="1275" b="1">
                <a:solidFill>
                  <a:srgbClr val="C64600"/>
                </a:solidFill>
                <a:latin typeface="Consolas"/>
                <a:ea typeface="Consolas"/>
                <a:cs typeface="Consolas"/>
              </a:rPr>
              <a:t>03  /  REFLECTION</a:t>
            </a:r>
          </a:p>
        </p:txBody>
      </p:sp>
      <p:sp>
        <p:nvSpPr>
          <p:cNvPr id="2" name="">
            <a:extLst xmlns:a="http://schemas.openxmlformats.org/drawingml/2006/main">
              <a:ext uri="{FF2B5EF4-FFF2-40B4-BE49-F238E27FC236}">
                <a16:creationId xmlns:a16="http://schemas.microsoft.com/office/drawing/2014/main" id="{27B9727A-9858-4911-8EEE-9A012478FACA}"/>
              </a:ext>
            </a:extLst>
          </p:cNvPr>
          <p:cNvSpPr>
            <a:spLocks xmlns:a="http://schemas.openxmlformats.org/drawingml/2006/main" noGrp="1"/>
          </p:cNvSpPr>
          <p:nvPr/>
        </p:nvSpPr>
        <p:spPr>
          <a:xfrm xmlns:a="http://schemas.openxmlformats.org/drawingml/2006/main">
            <a:off x="609600" y="7810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212B"/>
                </a:solidFill>
                <a:latin typeface="Arial"/>
                <a:ea typeface="Arial"/>
                <a:cs typeface="Arial"/>
              </a:defRPr>
            </a:pPr>
            <a:r>
              <a:rPr sz="3450" b="1">
                <a:solidFill>
                  <a:srgbClr val="17212B"/>
                </a:solidFill>
                <a:latin typeface="Arial"/>
                <a:ea typeface="Arial"/>
                <a:cs typeface="Arial"/>
              </a:rPr>
              <a:t>How our view of scoping changed</a:t>
            </a:r>
          </a:p>
        </p:txBody>
      </p:sp>
      <p:sp>
        <p:nvSpPr>
          <p:cNvPr id="3" name="">
            <a:extLst xmlns:a="http://schemas.openxmlformats.org/drawingml/2006/main">
              <a:ext uri="{FF2B5EF4-FFF2-40B4-BE49-F238E27FC236}">
                <a16:creationId xmlns:a16="http://schemas.microsoft.com/office/drawing/2014/main" id="{2DE1193D-9AB0-4783-8033-A9AD3B955394}"/>
              </a:ext>
            </a:extLst>
          </p:cNvPr>
          <p:cNvSpPr>
            <a:spLocks xmlns:a="http://schemas.openxmlformats.org/drawingml/2006/main" noGrp="1"/>
          </p:cNvSpPr>
          <p:nvPr/>
        </p:nvSpPr>
        <p:spPr>
          <a:xfrm xmlns:a="http://schemas.openxmlformats.org/drawingml/2006/main">
            <a:off x="10610850" y="6305550"/>
            <a:ext cx="109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9616B"/>
                </a:solidFill>
                <a:latin typeface="Consolas"/>
                <a:ea typeface="Consolas"/>
                <a:cs typeface="Consolas"/>
              </a:defRPr>
            </a:pPr>
            <a:r>
              <a:rPr sz="1200" b="0">
                <a:solidFill>
                  <a:srgbClr val="59616B"/>
                </a:solidFill>
                <a:latin typeface="Consolas"/>
                <a:ea typeface="Consolas"/>
                <a:cs typeface="Consolas"/>
              </a:rPr>
              <a:t>07 / 09</a:t>
            </a:r>
          </a:p>
        </p:txBody>
      </p:sp>
      <p:sp>
        <p:nvSpPr>
          <p:cNvPr id="6" name="">
            <a:extLst xmlns:a="http://schemas.openxmlformats.org/drawingml/2006/main">
              <a:ext uri="{FF2B5EF4-FFF2-40B4-BE49-F238E27FC236}">
                <a16:creationId xmlns:a16="http://schemas.microsoft.com/office/drawing/2014/main" id="{8B04D84A-FDC2-4E7A-9C3A-DCB8BE161DE7}"/>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16B"/>
                </a:solidFill>
                <a:latin typeface="Consolas"/>
                <a:ea typeface="Consolas"/>
                <a:cs typeface="Consolas"/>
              </a:defRPr>
            </a:pPr>
            <a:r>
              <a:rPr sz="1125" b="0">
                <a:solidFill>
                  <a:srgbClr val="59616B"/>
                </a:solidFill>
                <a:latin typeface="Consolas"/>
                <a:ea typeface="Consolas"/>
                <a:cs typeface="Consolas"/>
              </a:rPr>
              <a:t>SLAYVT  /  VIRGINIA TECH</a:t>
            </a:r>
          </a:p>
        </p:txBody>
      </p:sp>
      <p:sp>
        <p:nvSpPr>
          <p:cNvPr id="7" name="">
            <a:extLst xmlns:a="http://schemas.openxmlformats.org/drawingml/2006/main">
              <a:ext uri="{FF2B5EF4-FFF2-40B4-BE49-F238E27FC236}">
                <a16:creationId xmlns:a16="http://schemas.microsoft.com/office/drawing/2014/main" id="{DA9BC811-6651-46F5-8ED4-B6356D898C73}"/>
              </a:ext>
            </a:extLst>
          </p:cNvPr>
          <p:cNvSpPr>
            <a:spLocks xmlns:a="http://schemas.openxmlformats.org/drawingml/2006/main" noGrp="1"/>
          </p:cNvSpPr>
          <p:nvPr/>
        </p:nvSpPr>
        <p:spPr>
          <a:xfrm xmlns:a="http://schemas.openxmlformats.org/drawingml/2006/main">
            <a:off x="657225" y="20097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9616B"/>
                </a:solidFill>
                <a:latin typeface="Consolas"/>
                <a:ea typeface="Consolas"/>
                <a:cs typeface="Consolas"/>
              </a:defRPr>
            </a:pPr>
            <a:r>
              <a:rPr sz="1575" b="1">
                <a:solidFill>
                  <a:srgbClr val="59616B"/>
                </a:solidFill>
                <a:latin typeface="Consolas"/>
                <a:ea typeface="Consolas"/>
                <a:cs typeface="Consolas"/>
              </a:rPr>
              <a:t>WEEK 3</a:t>
            </a:r>
          </a:p>
        </p:txBody>
      </p:sp>
      <p:sp>
        <p:nvSpPr>
          <p:cNvPr id="8" name="">
            <a:extLst xmlns:a="http://schemas.openxmlformats.org/drawingml/2006/main">
              <a:ext uri="{FF2B5EF4-FFF2-40B4-BE49-F238E27FC236}">
                <a16:creationId xmlns:a16="http://schemas.microsoft.com/office/drawing/2014/main" id="{E52AE83A-AEB8-47D4-B57F-B16CBE354E17}"/>
              </a:ext>
            </a:extLst>
          </p:cNvPr>
          <p:cNvSpPr>
            <a:spLocks xmlns:a="http://schemas.openxmlformats.org/drawingml/2006/main" noGrp="1"/>
          </p:cNvSpPr>
          <p:nvPr/>
        </p:nvSpPr>
        <p:spPr>
          <a:xfrm xmlns:a="http://schemas.openxmlformats.org/drawingml/2006/main">
            <a:off x="647700" y="2657475"/>
            <a:ext cx="4572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59616B"/>
                </a:solidFill>
                <a:latin typeface="Arial"/>
                <a:ea typeface="Arial"/>
                <a:cs typeface="Arial"/>
              </a:defRPr>
            </a:pPr>
            <a:r>
              <a:rPr sz="3150" b="1">
                <a:solidFill>
                  <a:srgbClr val="59616B"/>
                </a:solidFill>
                <a:latin typeface="Arial"/>
                <a:ea typeface="Arial"/>
                <a:cs typeface="Arial"/>
              </a:rPr>
              <a:t>What features</a:t>
            </a:r>
          </a:p>
          <a:p xmlns:a="http://schemas.openxmlformats.org/drawingml/2006/main">
            <a:pPr>
              <a:defRPr sz="3150" b="1">
                <a:solidFill>
                  <a:srgbClr val="59616B"/>
                </a:solidFill>
                <a:latin typeface="Arial"/>
                <a:ea typeface="Arial"/>
                <a:cs typeface="Arial"/>
              </a:defRPr>
            </a:pPr>
            <a:r>
              <a:rPr sz="3150" b="1">
                <a:solidFill>
                  <a:srgbClr val="59616B"/>
                </a:solidFill>
                <a:latin typeface="Arial"/>
                <a:ea typeface="Arial"/>
                <a:cs typeface="Arial"/>
              </a:rPr>
              <a:t>can we add?</a:t>
            </a:r>
          </a:p>
        </p:txBody>
      </p:sp>
      <p:sp>
        <p:nvSpPr>
          <p:cNvPr id="9" name="">
            <a:extLst xmlns:a="http://schemas.openxmlformats.org/drawingml/2006/main">
              <a:ext uri="{FF2B5EF4-FFF2-40B4-BE49-F238E27FC236}">
                <a16:creationId xmlns:a16="http://schemas.microsoft.com/office/drawing/2014/main" id="{C5E15272-14EE-4385-970E-AE18CBBDA3AB}"/>
              </a:ext>
            </a:extLst>
          </p:cNvPr>
          <p:cNvSpPr>
            <a:spLocks xmlns:a="http://schemas.openxmlformats.org/drawingml/2006/main" noGrp="1"/>
          </p:cNvSpPr>
          <p:nvPr/>
        </p:nvSpPr>
        <p:spPr>
          <a:xfrm xmlns:a="http://schemas.openxmlformats.org/drawingml/2006/main">
            <a:off x="6610350" y="20097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861F41"/>
                </a:solidFill>
                <a:latin typeface="Consolas"/>
                <a:ea typeface="Consolas"/>
                <a:cs typeface="Consolas"/>
              </a:defRPr>
            </a:pPr>
            <a:r>
              <a:rPr sz="1575" b="1">
                <a:solidFill>
                  <a:srgbClr val="861F41"/>
                </a:solidFill>
                <a:latin typeface="Consolas"/>
                <a:ea typeface="Consolas"/>
                <a:cs typeface="Consolas"/>
              </a:rPr>
              <a:t>NOW</a:t>
            </a:r>
          </a:p>
        </p:txBody>
      </p:sp>
      <p:sp>
        <p:nvSpPr>
          <p:cNvPr id="10" name="">
            <a:extLst xmlns:a="http://schemas.openxmlformats.org/drawingml/2006/main">
              <a:ext uri="{FF2B5EF4-FFF2-40B4-BE49-F238E27FC236}">
                <a16:creationId xmlns:a16="http://schemas.microsoft.com/office/drawing/2014/main" id="{D779FC86-F46A-4701-BF30-294A665640FF}"/>
              </a:ext>
            </a:extLst>
          </p:cNvPr>
          <p:cNvSpPr>
            <a:spLocks xmlns:a="http://schemas.openxmlformats.org/drawingml/2006/main" noGrp="1"/>
          </p:cNvSpPr>
          <p:nvPr/>
        </p:nvSpPr>
        <p:spPr>
          <a:xfrm xmlns:a="http://schemas.openxmlformats.org/drawingml/2006/main">
            <a:off x="6600825" y="2657475"/>
            <a:ext cx="47625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861F41"/>
                </a:solidFill>
                <a:latin typeface="Arial"/>
                <a:ea typeface="Arial"/>
                <a:cs typeface="Arial"/>
              </a:defRPr>
            </a:pPr>
            <a:r>
              <a:rPr sz="3150" b="1">
                <a:solidFill>
                  <a:srgbClr val="861F41"/>
                </a:solidFill>
                <a:latin typeface="Arial"/>
                <a:ea typeface="Arial"/>
                <a:cs typeface="Arial"/>
              </a:rPr>
              <a:t>What can we finish</a:t>
            </a:r>
          </a:p>
          <a:p xmlns:a="http://schemas.openxmlformats.org/drawingml/2006/main">
            <a:pPr>
              <a:defRPr sz="3150" b="1">
                <a:solidFill>
                  <a:srgbClr val="861F41"/>
                </a:solidFill>
                <a:latin typeface="Arial"/>
                <a:ea typeface="Arial"/>
                <a:cs typeface="Arial"/>
              </a:defRPr>
            </a:pPr>
            <a:r>
              <a:rPr sz="3150" b="1">
                <a:solidFill>
                  <a:srgbClr val="861F41"/>
                </a:solidFill>
                <a:latin typeface="Arial"/>
                <a:ea typeface="Arial"/>
                <a:cs typeface="Arial"/>
              </a:rPr>
              <a:t>and verify?</a:t>
            </a:r>
          </a:p>
        </p:txBody>
      </p:sp>
      <p:sp>
        <p:nvSpPr>
          <p:cNvPr id="11" name="">
            <a:extLst xmlns:a="http://schemas.openxmlformats.org/drawingml/2006/main">
              <a:ext uri="{FF2B5EF4-FFF2-40B4-BE49-F238E27FC236}">
                <a16:creationId xmlns:a16="http://schemas.microsoft.com/office/drawing/2014/main" id="{D65C4B98-A489-4BD2-A46E-E7EDBF313FE1}"/>
              </a:ext>
            </a:extLst>
          </p:cNvPr>
          <p:cNvSpPr>
            <a:spLocks xmlns:a="http://schemas.openxmlformats.org/drawingml/2006/main" noGrp="1"/>
          </p:cNvSpPr>
          <p:nvPr/>
        </p:nvSpPr>
        <p:spPr>
          <a:xfrm xmlns:a="http://schemas.openxmlformats.org/drawingml/2006/main">
            <a:off x="6610350" y="4333875"/>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800"/>
              </a:spcAft>
              <a:buChar char="•"/>
              <a:defRPr sz="1800" b="0">
                <a:solidFill>
                  <a:srgbClr val="17212B"/>
                </a:solidFill>
                <a:latin typeface="Arial"/>
                <a:ea typeface="Arial"/>
                <a:cs typeface="Arial"/>
              </a:defRPr>
            </a:pPr>
            <a:r>
              <a:rPr sz="1800" b="0">
                <a:solidFill>
                  <a:srgbClr val="17212B"/>
                </a:solidFill>
                <a:latin typeface="Arial"/>
                <a:ea typeface="Arial"/>
                <a:cs typeface="Arial"/>
              </a:rPr>
              <a:t>Estimate effort for each subsystem</a:t>
            </a:r>
          </a:p>
          <a:p xmlns:a="http://schemas.openxmlformats.org/drawingml/2006/main">
            <a:pPr marL="241300" indent="-114300">
              <a:spcAft>
                <a:spcPts val="1800"/>
              </a:spcAft>
              <a:buChar char="•"/>
              <a:defRPr sz="1800" b="0">
                <a:solidFill>
                  <a:srgbClr val="17212B"/>
                </a:solidFill>
                <a:latin typeface="Arial"/>
                <a:ea typeface="Arial"/>
                <a:cs typeface="Arial"/>
              </a:defRPr>
            </a:pPr>
            <a:r>
              <a:rPr sz="1800" b="0">
                <a:solidFill>
                  <a:srgbClr val="17212B"/>
                </a:solidFill>
                <a:latin typeface="Arial"/>
                <a:ea typeface="Arial"/>
                <a:cs typeface="Arial"/>
              </a:rPr>
              <a:t>Define the smallest playable version</a:t>
            </a:r>
          </a:p>
          <a:p xmlns:a="http://schemas.openxmlformats.org/drawingml/2006/main">
            <a:pPr marL="241300" indent="-114300">
              <a:spcAft>
                <a:spcPts val="1800"/>
              </a:spcAft>
              <a:buChar char="•"/>
              <a:defRPr sz="1800" b="0">
                <a:solidFill>
                  <a:srgbClr val="17212B"/>
                </a:solidFill>
                <a:latin typeface="Arial"/>
                <a:ea typeface="Arial"/>
                <a:cs typeface="Arial"/>
              </a:defRPr>
            </a:pPr>
            <a:r>
              <a:rPr sz="1800" b="0">
                <a:solidFill>
                  <a:srgbClr val="17212B"/>
                </a:solidFill>
                <a:latin typeface="Arial"/>
                <a:ea typeface="Arial"/>
                <a:cs typeface="Arial"/>
              </a:rPr>
              <a:t>Reserve time for testing and UI</a:t>
            </a:r>
          </a:p>
        </p:txBody>
      </p:sp>
      <p:sp>
        <p:nvSpPr>
          <p:cNvPr id="12" name="">
            <a:extLst xmlns:a="http://schemas.openxmlformats.org/drawingml/2006/main">
              <a:ext uri="{FF2B5EF4-FFF2-40B4-BE49-F238E27FC236}">
                <a16:creationId xmlns:a16="http://schemas.microsoft.com/office/drawing/2014/main" id="{85E1DA0F-C9D6-4FE8-9EEA-1857875742AE}"/>
              </a:ext>
            </a:extLst>
          </p:cNvPr>
          <p:cNvSpPr>
            <a:spLocks xmlns:a="http://schemas.openxmlformats.org/drawingml/2006/main" noGrp="1"/>
          </p:cNvSpPr>
          <p:nvPr/>
        </p:nvSpPr>
        <p:spPr>
          <a:xfrm xmlns:a="http://schemas.openxmlformats.org/drawingml/2006/main">
            <a:off x="685800" y="5229225"/>
            <a:ext cx="4667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9616B"/>
                </a:solidFill>
                <a:latin typeface="Arial"/>
                <a:ea typeface="Arial"/>
                <a:cs typeface="Arial"/>
              </a:defRPr>
            </a:pPr>
            <a:r>
              <a:rPr sz="1950" b="0">
                <a:solidFill>
                  <a:srgbClr val="59616B"/>
                </a:solidFill>
                <a:latin typeface="Arial"/>
                <a:ea typeface="Arial"/>
                <a:cs typeface="Arial"/>
              </a:rPr>
              <a:t>Cut lower-priority features early.</a:t>
            </a:r>
          </a:p>
        </p:txBody>
      </p:sp>
    </p:spTree>
    <p:extLst>
      <p:ext uri="{BB962C8B-B14F-4D97-AF65-F5344CB8AC3E}">
        <p14:creationId xmlns:p14="http://schemas.microsoft.com/office/powerpoint/2010/main" val="16396203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357D3D-BB05-40ED-AAF4-C991466097C1}"/>
              </a:ext>
            </a:extLst>
          </p:cNvPr>
          <p:cNvSpPr>
            <a:spLocks xmlns:a="http://schemas.openxmlformats.org/drawingml/2006/main" noGrp="1"/>
          </p:cNvSpPr>
          <p:nvPr/>
        </p:nvSpPr>
        <p:spPr>
          <a:xfrm xmlns:a="http://schemas.openxmlformats.org/drawingml/2006/main">
            <a:off x="609600" y="3048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C64600"/>
                </a:solidFill>
                <a:latin typeface="Consolas"/>
                <a:ea typeface="Consolas"/>
                <a:cs typeface="Consolas"/>
              </a:defRPr>
            </a:pPr>
            <a:r>
              <a:rPr sz="1275" b="1">
                <a:solidFill>
                  <a:srgbClr val="C64600"/>
                </a:solidFill>
                <a:latin typeface="Consolas"/>
                <a:ea typeface="Consolas"/>
                <a:cs typeface="Consolas"/>
              </a:rPr>
              <a:t>04  /  GENAI REFLECTION</a:t>
            </a:r>
          </a:p>
        </p:txBody>
      </p:sp>
      <p:sp>
        <p:nvSpPr>
          <p:cNvPr id="2" name="">
            <a:extLst xmlns:a="http://schemas.openxmlformats.org/drawingml/2006/main">
              <a:ext uri="{FF2B5EF4-FFF2-40B4-BE49-F238E27FC236}">
                <a16:creationId xmlns:a16="http://schemas.microsoft.com/office/drawing/2014/main" id="{6D1D5470-4779-4009-A82F-97C414541D37}"/>
              </a:ext>
            </a:extLst>
          </p:cNvPr>
          <p:cNvSpPr>
            <a:spLocks xmlns:a="http://schemas.openxmlformats.org/drawingml/2006/main" noGrp="1"/>
          </p:cNvSpPr>
          <p:nvPr/>
        </p:nvSpPr>
        <p:spPr>
          <a:xfrm xmlns:a="http://schemas.openxmlformats.org/drawingml/2006/main">
            <a:off x="609600" y="7810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212B"/>
                </a:solidFill>
                <a:latin typeface="Arial"/>
                <a:ea typeface="Arial"/>
                <a:cs typeface="Arial"/>
              </a:defRPr>
            </a:pPr>
            <a:r>
              <a:rPr sz="3450" b="1">
                <a:solidFill>
                  <a:srgbClr val="17212B"/>
                </a:solidFill>
                <a:latin typeface="Arial"/>
                <a:ea typeface="Arial"/>
                <a:cs typeface="Arial"/>
              </a:rPr>
              <a:t>How we used GenAI</a:t>
            </a:r>
          </a:p>
        </p:txBody>
      </p:sp>
      <p:sp>
        <p:nvSpPr>
          <p:cNvPr id="3" name="">
            <a:extLst xmlns:a="http://schemas.openxmlformats.org/drawingml/2006/main">
              <a:ext uri="{FF2B5EF4-FFF2-40B4-BE49-F238E27FC236}">
                <a16:creationId xmlns:a16="http://schemas.microsoft.com/office/drawing/2014/main" id="{1FDBB3D1-3C0F-4433-9969-414C952A9192}"/>
              </a:ext>
            </a:extLst>
          </p:cNvPr>
          <p:cNvSpPr>
            <a:spLocks xmlns:a="http://schemas.openxmlformats.org/drawingml/2006/main" noGrp="1"/>
          </p:cNvSpPr>
          <p:nvPr/>
        </p:nvSpPr>
        <p:spPr>
          <a:xfrm xmlns:a="http://schemas.openxmlformats.org/drawingml/2006/main">
            <a:off x="10610850" y="6305550"/>
            <a:ext cx="109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9616B"/>
                </a:solidFill>
                <a:latin typeface="Consolas"/>
                <a:ea typeface="Consolas"/>
                <a:cs typeface="Consolas"/>
              </a:defRPr>
            </a:pPr>
            <a:r>
              <a:rPr sz="1200" b="0">
                <a:solidFill>
                  <a:srgbClr val="59616B"/>
                </a:solidFill>
                <a:latin typeface="Consolas"/>
                <a:ea typeface="Consolas"/>
                <a:cs typeface="Consolas"/>
              </a:rPr>
              <a:t>08 / 09</a:t>
            </a:r>
          </a:p>
        </p:txBody>
      </p:sp>
      <p:sp>
        <p:nvSpPr>
          <p:cNvPr id="6" name="">
            <a:extLst xmlns:a="http://schemas.openxmlformats.org/drawingml/2006/main">
              <a:ext uri="{FF2B5EF4-FFF2-40B4-BE49-F238E27FC236}">
                <a16:creationId xmlns:a16="http://schemas.microsoft.com/office/drawing/2014/main" id="{24555D6B-5A1C-489C-87B8-FC350A7AF95B}"/>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16B"/>
                </a:solidFill>
                <a:latin typeface="Consolas"/>
                <a:ea typeface="Consolas"/>
                <a:cs typeface="Consolas"/>
              </a:defRPr>
            </a:pPr>
            <a:r>
              <a:rPr sz="1125" b="0">
                <a:solidFill>
                  <a:srgbClr val="59616B"/>
                </a:solidFill>
                <a:latin typeface="Consolas"/>
                <a:ea typeface="Consolas"/>
                <a:cs typeface="Consolas"/>
              </a:rPr>
              <a:t>SLAYVT  /  VIRGINIA TECH</a:t>
            </a:r>
          </a:p>
        </p:txBody>
      </p:sp>
      <p:sp>
        <p:nvSpPr>
          <p:cNvPr id="7" name="">
            <a:extLst xmlns:a="http://schemas.openxmlformats.org/drawingml/2006/main">
              <a:ext uri="{FF2B5EF4-FFF2-40B4-BE49-F238E27FC236}">
                <a16:creationId xmlns:a16="http://schemas.microsoft.com/office/drawing/2014/main" id="{0FA17577-6E31-41AE-81FE-331678880460}"/>
              </a:ext>
            </a:extLst>
          </p:cNvPr>
          <p:cNvSpPr>
            <a:spLocks xmlns:a="http://schemas.openxmlformats.org/drawingml/2006/main" noGrp="1"/>
          </p:cNvSpPr>
          <p:nvPr/>
        </p:nvSpPr>
        <p:spPr>
          <a:xfrm xmlns:a="http://schemas.openxmlformats.org/drawingml/2006/main">
            <a:off x="666750" y="198120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C64600"/>
                </a:solidFill>
                <a:latin typeface="Consolas"/>
                <a:ea typeface="Consolas"/>
                <a:cs typeface="Consolas"/>
              </a:defRPr>
            </a:pPr>
            <a:r>
              <a:rPr sz="1575" b="1">
                <a:solidFill>
                  <a:srgbClr val="C64600"/>
                </a:solidFill>
                <a:latin typeface="Consolas"/>
                <a:ea typeface="Consolas"/>
                <a:cs typeface="Consolas"/>
              </a:rPr>
              <a:t>AI-ASSISTED</a:t>
            </a:r>
          </a:p>
        </p:txBody>
      </p:sp>
      <p:sp>
        <p:nvSpPr>
          <p:cNvPr id="8" name="">
            <a:extLst xmlns:a="http://schemas.openxmlformats.org/drawingml/2006/main">
              <a:ext uri="{FF2B5EF4-FFF2-40B4-BE49-F238E27FC236}">
                <a16:creationId xmlns:a16="http://schemas.microsoft.com/office/drawing/2014/main" id="{4D61F6A9-2148-42D6-8713-C29CF69BF2BD}"/>
              </a:ext>
            </a:extLst>
          </p:cNvPr>
          <p:cNvSpPr>
            <a:spLocks xmlns:a="http://schemas.openxmlformats.org/drawingml/2006/main" noGrp="1"/>
          </p:cNvSpPr>
          <p:nvPr/>
        </p:nvSpPr>
        <p:spPr>
          <a:xfrm xmlns:a="http://schemas.openxmlformats.org/drawingml/2006/main">
            <a:off x="657225" y="2543175"/>
            <a:ext cx="47625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800"/>
              </a:spcAft>
              <a:buChar char="•"/>
              <a:defRPr sz="1950" b="0">
                <a:solidFill>
                  <a:srgbClr val="17212B"/>
                </a:solidFill>
                <a:latin typeface="Arial"/>
                <a:ea typeface="Arial"/>
                <a:cs typeface="Arial"/>
              </a:defRPr>
            </a:pPr>
            <a:r>
              <a:rPr sz="1950" b="0">
                <a:solidFill>
                  <a:srgbClr val="17212B"/>
                </a:solidFill>
                <a:latin typeface="Arial"/>
                <a:ea typeface="Arial"/>
                <a:cs typeface="Arial"/>
              </a:rPr>
              <a:t>Initial structure and test drafts</a:t>
            </a:r>
          </a:p>
          <a:p xmlns:a="http://schemas.openxmlformats.org/drawingml/2006/main">
            <a:pPr marL="241300" indent="-114300">
              <a:spcAft>
                <a:spcPts val="1800"/>
              </a:spcAft>
              <a:buChar char="•"/>
              <a:defRPr sz="1950" b="0">
                <a:solidFill>
                  <a:srgbClr val="17212B"/>
                </a:solidFill>
                <a:latin typeface="Arial"/>
                <a:ea typeface="Arial"/>
                <a:cs typeface="Arial"/>
              </a:defRPr>
            </a:pPr>
            <a:r>
              <a:rPr sz="1950" b="0">
                <a:solidFill>
                  <a:srgbClr val="17212B"/>
                </a:solidFill>
                <a:latin typeface="Arial"/>
                <a:ea typeface="Arial"/>
                <a:cs typeface="Arial"/>
              </a:rPr>
              <a:t>Names, UI ideas, and refactoring</a:t>
            </a:r>
          </a:p>
        </p:txBody>
      </p:sp>
      <p:sp>
        <p:nvSpPr>
          <p:cNvPr id="9" name="">
            <a:extLst xmlns:a="http://schemas.openxmlformats.org/drawingml/2006/main">
              <a:ext uri="{FF2B5EF4-FFF2-40B4-BE49-F238E27FC236}">
                <a16:creationId xmlns:a16="http://schemas.microsoft.com/office/drawing/2014/main" id="{5D654C8B-5B47-4295-959B-7249D180B888}"/>
              </a:ext>
            </a:extLst>
          </p:cNvPr>
          <p:cNvSpPr>
            <a:spLocks xmlns:a="http://schemas.openxmlformats.org/drawingml/2006/main" noGrp="1"/>
          </p:cNvSpPr>
          <p:nvPr/>
        </p:nvSpPr>
        <p:spPr>
          <a:xfrm xmlns:a="http://schemas.openxmlformats.org/drawingml/2006/main">
            <a:off x="666750" y="42481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861F41"/>
                </a:solidFill>
                <a:latin typeface="Consolas"/>
                <a:ea typeface="Consolas"/>
                <a:cs typeface="Consolas"/>
              </a:defRPr>
            </a:pPr>
            <a:r>
              <a:rPr sz="1575" b="1">
                <a:solidFill>
                  <a:srgbClr val="861F41"/>
                </a:solidFill>
                <a:latin typeface="Consolas"/>
                <a:ea typeface="Consolas"/>
                <a:cs typeface="Consolas"/>
              </a:rPr>
              <a:t>TEAM-DESIGNED</a:t>
            </a:r>
          </a:p>
        </p:txBody>
      </p:sp>
      <p:sp>
        <p:nvSpPr>
          <p:cNvPr id="10" name="">
            <a:extLst xmlns:a="http://schemas.openxmlformats.org/drawingml/2006/main">
              <a:ext uri="{FF2B5EF4-FFF2-40B4-BE49-F238E27FC236}">
                <a16:creationId xmlns:a16="http://schemas.microsoft.com/office/drawing/2014/main" id="{29AE085E-E306-4A55-A467-09F3AEFA0C1F}"/>
              </a:ext>
            </a:extLst>
          </p:cNvPr>
          <p:cNvSpPr>
            <a:spLocks xmlns:a="http://schemas.openxmlformats.org/drawingml/2006/main" noGrp="1"/>
          </p:cNvSpPr>
          <p:nvPr/>
        </p:nvSpPr>
        <p:spPr>
          <a:xfrm xmlns:a="http://schemas.openxmlformats.org/drawingml/2006/main">
            <a:off x="685800" y="480060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Cards, temperature,</a:t>
            </a:r>
          </a:p>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and core combat decisions</a:t>
            </a:r>
          </a:p>
        </p:txBody>
      </p:sp>
      <p:sp>
        <p:nvSpPr>
          <p:cNvPr id="11" name="">
            <a:extLst xmlns:a="http://schemas.openxmlformats.org/drawingml/2006/main">
              <a:ext uri="{FF2B5EF4-FFF2-40B4-BE49-F238E27FC236}">
                <a16:creationId xmlns:a16="http://schemas.microsoft.com/office/drawing/2014/main" id="{4AE0398E-50A2-4616-A892-C283D8FE7300}"/>
              </a:ext>
            </a:extLst>
          </p:cNvPr>
          <p:cNvSpPr>
            <a:spLocks xmlns:a="http://schemas.openxmlformats.org/drawingml/2006/main" noGrp="1"/>
          </p:cNvSpPr>
          <p:nvPr/>
        </p:nvSpPr>
        <p:spPr>
          <a:xfrm xmlns:a="http://schemas.openxmlformats.org/drawingml/2006/main">
            <a:off x="6267450" y="1981200"/>
            <a:ext cx="5267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861F41"/>
                </a:solidFill>
                <a:latin typeface="Consolas"/>
                <a:ea typeface="Consolas"/>
                <a:cs typeface="Consolas"/>
              </a:defRPr>
            </a:pPr>
            <a:r>
              <a:rPr sz="1575" b="1">
                <a:solidFill>
                  <a:srgbClr val="861F41"/>
                </a:solidFill>
                <a:latin typeface="Consolas"/>
                <a:ea typeface="Consolas"/>
                <a:cs typeface="Consolas"/>
              </a:rPr>
              <a:t>EXAMPLE: BATTLECONTEXT</a:t>
            </a:r>
          </a:p>
        </p:txBody>
      </p:sp>
      <p:sp>
        <p:nvSpPr>
          <p:cNvPr id="12" name="">
            <a:extLst xmlns:a="http://schemas.openxmlformats.org/drawingml/2006/main">
              <a:ext uri="{FF2B5EF4-FFF2-40B4-BE49-F238E27FC236}">
                <a16:creationId xmlns:a16="http://schemas.microsoft.com/office/drawing/2014/main" id="{F8686C2D-E075-4840-B160-EE9F29D52CC5}"/>
              </a:ext>
            </a:extLst>
          </p:cNvPr>
          <p:cNvSpPr>
            <a:spLocks xmlns:a="http://schemas.openxmlformats.org/drawingml/2006/main" noGrp="1"/>
          </p:cNvSpPr>
          <p:nvPr/>
        </p:nvSpPr>
        <p:spPr>
          <a:xfrm xmlns:a="http://schemas.openxmlformats.org/drawingml/2006/main">
            <a:off x="6276975" y="2562225"/>
            <a:ext cx="52101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212B"/>
                </a:solidFill>
                <a:latin typeface="Arial"/>
                <a:ea typeface="Arial"/>
                <a:cs typeface="Arial"/>
              </a:defRPr>
            </a:pPr>
            <a:r>
              <a:rPr sz="2175" b="1">
                <a:solidFill>
                  <a:srgbClr val="17212B"/>
                </a:solidFill>
                <a:latin typeface="Arial"/>
                <a:ea typeface="Arial"/>
                <a:cs typeface="Arial"/>
              </a:rPr>
              <a:t>One place for battle state</a:t>
            </a:r>
          </a:p>
        </p:txBody>
      </p:sp>
      <p:sp>
        <p:nvSpPr>
          <p:cNvPr id="13" name="">
            <a:extLst xmlns:a="http://schemas.openxmlformats.org/drawingml/2006/main">
              <a:ext uri="{FF2B5EF4-FFF2-40B4-BE49-F238E27FC236}">
                <a16:creationId xmlns:a16="http://schemas.microsoft.com/office/drawing/2014/main" id="{C8E65C8D-EE7A-417C-9FEC-A4EF6DDCC182}"/>
              </a:ext>
            </a:extLst>
          </p:cNvPr>
          <p:cNvSpPr>
            <a:spLocks xmlns:a="http://schemas.openxmlformats.org/drawingml/2006/main" noGrp="1"/>
          </p:cNvSpPr>
          <p:nvPr/>
        </p:nvSpPr>
        <p:spPr>
          <a:xfrm xmlns:a="http://schemas.openxmlformats.org/drawingml/2006/main">
            <a:off x="6296025" y="3286125"/>
            <a:ext cx="525780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16C8C"/>
                </a:solidFill>
                <a:latin typeface="Consolas"/>
                <a:ea typeface="Consolas"/>
                <a:cs typeface="Consolas"/>
              </a:defRPr>
            </a:pPr>
            <a:r>
              <a:rPr sz="1575" b="0">
                <a:solidFill>
                  <a:srgbClr val="216C8C"/>
                </a:solidFill>
                <a:latin typeface="Consolas"/>
                <a:ea typeface="Consolas"/>
                <a:cs typeface="Consolas"/>
              </a:rPr>
              <a:t>private final Player player;</a:t>
            </a:r>
          </a:p>
          <a:p xmlns:a="http://schemas.openxmlformats.org/drawingml/2006/main">
            <a:r>
              <a:t/>
            </a:r>
          </a:p>
          <a:p xmlns:a="http://schemas.openxmlformats.org/drawingml/2006/main">
            <a:pPr>
              <a:defRPr sz="1575" b="0">
                <a:solidFill>
                  <a:srgbClr val="216C8C"/>
                </a:solidFill>
                <a:latin typeface="Consolas"/>
                <a:ea typeface="Consolas"/>
                <a:cs typeface="Consolas"/>
              </a:defRPr>
            </a:pPr>
            <a:r>
              <a:rPr sz="1575" b="0">
                <a:solidFill>
                  <a:srgbClr val="216C8C"/>
                </a:solidFill>
                <a:latin typeface="Consolas"/>
                <a:ea typeface="Consolas"/>
                <a:cs typeface="Consolas"/>
              </a:rPr>
              <a:t>private final ArrayList&lt;Enemy&gt; enemies;</a:t>
            </a:r>
          </a:p>
          <a:p xmlns:a="http://schemas.openxmlformats.org/drawingml/2006/main">
            <a:r>
              <a:t/>
            </a:r>
          </a:p>
          <a:p xmlns:a="http://schemas.openxmlformats.org/drawingml/2006/main">
            <a:pPr>
              <a:defRPr sz="1575" b="0">
                <a:solidFill>
                  <a:srgbClr val="216C8C"/>
                </a:solidFill>
                <a:latin typeface="Consolas"/>
                <a:ea typeface="Consolas"/>
                <a:cs typeface="Consolas"/>
              </a:defRPr>
            </a:pPr>
            <a:r>
              <a:rPr sz="1575" b="0">
                <a:solidFill>
                  <a:srgbClr val="216C8C"/>
                </a:solidFill>
                <a:latin typeface="Consolas"/>
                <a:ea typeface="Consolas"/>
                <a:cs typeface="Consolas"/>
              </a:rPr>
              <a:t>private final BattlePiles piles;</a:t>
            </a:r>
          </a:p>
        </p:txBody>
      </p:sp>
      <p:sp>
        <p:nvSpPr>
          <p:cNvPr id="14" name="">
            <a:extLst xmlns:a="http://schemas.openxmlformats.org/drawingml/2006/main">
              <a:ext uri="{FF2B5EF4-FFF2-40B4-BE49-F238E27FC236}">
                <a16:creationId xmlns:a16="http://schemas.microsoft.com/office/drawing/2014/main" id="{74DB0B05-DC2B-4C75-B021-8E81123C825F}"/>
              </a:ext>
            </a:extLst>
          </p:cNvPr>
          <p:cNvSpPr>
            <a:spLocks xmlns:a="http://schemas.openxmlformats.org/drawingml/2006/main" noGrp="1"/>
          </p:cNvSpPr>
          <p:nvPr/>
        </p:nvSpPr>
        <p:spPr>
          <a:xfrm xmlns:a="http://schemas.openxmlformats.org/drawingml/2006/main">
            <a:off x="6296025" y="5553075"/>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16B"/>
                </a:solidFill>
                <a:latin typeface="Arial"/>
                <a:ea typeface="Arial"/>
                <a:cs typeface="Arial"/>
              </a:defRPr>
            </a:pPr>
            <a:r>
              <a:rPr sz="1425" b="0">
                <a:solidFill>
                  <a:srgbClr val="59616B"/>
                </a:solidFill>
                <a:latin typeface="Arial"/>
                <a:ea typeface="Arial"/>
                <a:cs typeface="Arial"/>
              </a:rPr>
              <a:t>Fields excerpt from the project</a:t>
            </a:r>
          </a:p>
        </p:txBody>
      </p:sp>
    </p:spTree>
    <p:extLst>
      <p:ext uri="{BB962C8B-B14F-4D97-AF65-F5344CB8AC3E}">
        <p14:creationId xmlns:p14="http://schemas.microsoft.com/office/powerpoint/2010/main" val="1800100032"/>
      </p:ext>
    </p:extLst>
  </p:cSld>
</p:sld>
</file>

<file path=ppt/slides/slide9.xml><?xml version="1.0" encoding="utf-8"?>
<p:sld xmlns:p="http://schemas.openxmlformats.org/presentationml/2006/main">
  <p:cSld>
    <p:bg>
      <p:bgPr>
        <a:solidFill xmlns:a="http://schemas.openxmlformats.org/drawingml/2006/main">
          <a:srgbClr val="10151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87C443-DF88-4E9B-B205-159BAD76A258}"/>
              </a:ext>
            </a:extLst>
          </p:cNvPr>
          <p:cNvSpPr>
            <a:spLocks xmlns:a="http://schemas.openxmlformats.org/drawingml/2006/main" noGrp="1"/>
          </p:cNvSpPr>
          <p:nvPr/>
        </p:nvSpPr>
        <p:spPr>
          <a:xfrm xmlns:a="http://schemas.openxmlformats.org/drawingml/2006/main">
            <a:off x="609600" y="304800"/>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1">
                <a:solidFill>
                  <a:srgbClr val="E5751F"/>
                </a:solidFill>
                <a:latin typeface="Consolas"/>
                <a:ea typeface="Consolas"/>
                <a:cs typeface="Consolas"/>
              </a:defRPr>
            </a:pPr>
            <a:r>
              <a:rPr sz="1275" b="1">
                <a:solidFill>
                  <a:srgbClr val="E5751F"/>
                </a:solidFill>
                <a:latin typeface="Consolas"/>
                <a:ea typeface="Consolas"/>
                <a:cs typeface="Consolas"/>
              </a:rPr>
              <a:t>04  /  GENAI REFLECTION</a:t>
            </a:r>
          </a:p>
        </p:txBody>
      </p:sp>
      <p:sp>
        <p:nvSpPr>
          <p:cNvPr id="2" name="">
            <a:extLst xmlns:a="http://schemas.openxmlformats.org/drawingml/2006/main">
              <a:ext uri="{FF2B5EF4-FFF2-40B4-BE49-F238E27FC236}">
                <a16:creationId xmlns:a16="http://schemas.microsoft.com/office/drawing/2014/main" id="{C4DFD1F4-E27B-457A-9DD1-19D6A66E104B}"/>
              </a:ext>
            </a:extLst>
          </p:cNvPr>
          <p:cNvSpPr>
            <a:spLocks xmlns:a="http://schemas.openxmlformats.org/drawingml/2006/main" noGrp="1"/>
          </p:cNvSpPr>
          <p:nvPr/>
        </p:nvSpPr>
        <p:spPr>
          <a:xfrm xmlns:a="http://schemas.openxmlformats.org/drawingml/2006/main">
            <a:off x="609600" y="7810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F7F7F4"/>
                </a:solidFill>
                <a:latin typeface="Arial"/>
                <a:ea typeface="Arial"/>
                <a:cs typeface="Arial"/>
              </a:defRPr>
            </a:pPr>
            <a:r>
              <a:rPr sz="3450" b="1">
                <a:solidFill>
                  <a:srgbClr val="F7F7F4"/>
                </a:solidFill>
                <a:latin typeface="Arial"/>
                <a:ea typeface="Arial"/>
                <a:cs typeface="Arial"/>
              </a:rPr>
              <a:t>What we learned from GenAI</a:t>
            </a:r>
          </a:p>
        </p:txBody>
      </p:sp>
      <p:sp>
        <p:nvSpPr>
          <p:cNvPr id="3" name="">
            <a:extLst xmlns:a="http://schemas.openxmlformats.org/drawingml/2006/main">
              <a:ext uri="{FF2B5EF4-FFF2-40B4-BE49-F238E27FC236}">
                <a16:creationId xmlns:a16="http://schemas.microsoft.com/office/drawing/2014/main" id="{F7161FC2-BD51-47B9-86E5-F063CC3A36EE}"/>
              </a:ext>
            </a:extLst>
          </p:cNvPr>
          <p:cNvSpPr>
            <a:spLocks xmlns:a="http://schemas.openxmlformats.org/drawingml/2006/main" noGrp="1"/>
          </p:cNvSpPr>
          <p:nvPr/>
        </p:nvSpPr>
        <p:spPr>
          <a:xfrm xmlns:a="http://schemas.openxmlformats.org/drawingml/2006/main">
            <a:off x="10610850" y="6305550"/>
            <a:ext cx="109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B7C1CB"/>
                </a:solidFill>
                <a:latin typeface="Consolas"/>
                <a:ea typeface="Consolas"/>
                <a:cs typeface="Consolas"/>
              </a:defRPr>
            </a:pPr>
            <a:r>
              <a:rPr sz="1200" b="0">
                <a:solidFill>
                  <a:srgbClr val="B7C1CB"/>
                </a:solidFill>
                <a:latin typeface="Consolas"/>
                <a:ea typeface="Consolas"/>
                <a:cs typeface="Consolas"/>
              </a:rPr>
              <a:t>09 / 09</a:t>
            </a:r>
          </a:p>
        </p:txBody>
      </p:sp>
      <p:sp>
        <p:nvSpPr>
          <p:cNvPr id="6" name="">
            <a:extLst xmlns:a="http://schemas.openxmlformats.org/drawingml/2006/main">
              <a:ext uri="{FF2B5EF4-FFF2-40B4-BE49-F238E27FC236}">
                <a16:creationId xmlns:a16="http://schemas.microsoft.com/office/drawing/2014/main" id="{EA1A18BF-2116-44EF-B9C9-E88DBBC0BC5B}"/>
              </a:ext>
            </a:extLst>
          </p:cNvPr>
          <p:cNvSpPr>
            <a:spLocks xmlns:a="http://schemas.openxmlformats.org/drawingml/2006/main" noGrp="1"/>
          </p:cNvSpPr>
          <p:nvPr/>
        </p:nvSpPr>
        <p:spPr>
          <a:xfrm xmlns:a="http://schemas.openxmlformats.org/drawingml/2006/main">
            <a:off x="609600" y="63055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7C1CB"/>
                </a:solidFill>
                <a:latin typeface="Consolas"/>
                <a:ea typeface="Consolas"/>
                <a:cs typeface="Consolas"/>
              </a:defRPr>
            </a:pPr>
            <a:r>
              <a:rPr sz="1125" b="0">
                <a:solidFill>
                  <a:srgbClr val="B7C1CB"/>
                </a:solidFill>
                <a:latin typeface="Consolas"/>
                <a:ea typeface="Consolas"/>
                <a:cs typeface="Consolas"/>
              </a:rPr>
              <a:t>SLAYVT  /  VIRGINIA TECH</a:t>
            </a:r>
          </a:p>
        </p:txBody>
      </p:sp>
      <p:sp>
        <p:nvSpPr>
          <p:cNvPr id="7" name="">
            <a:extLst xmlns:a="http://schemas.openxmlformats.org/drawingml/2006/main">
              <a:ext uri="{FF2B5EF4-FFF2-40B4-BE49-F238E27FC236}">
                <a16:creationId xmlns:a16="http://schemas.microsoft.com/office/drawing/2014/main" id="{F74B236C-26AE-4EF3-B86E-C917056D2B88}"/>
              </a:ext>
            </a:extLst>
          </p:cNvPr>
          <p:cNvSpPr>
            <a:spLocks xmlns:a="http://schemas.openxmlformats.org/drawingml/2006/main" noGrp="1"/>
          </p:cNvSpPr>
          <p:nvPr/>
        </p:nvSpPr>
        <p:spPr>
          <a:xfrm xmlns:a="http://schemas.openxmlformats.org/drawingml/2006/main">
            <a:off x="666750" y="20574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5751F"/>
                </a:solidFill>
                <a:latin typeface="Consolas"/>
                <a:ea typeface="Consolas"/>
                <a:cs typeface="Consolas"/>
              </a:defRPr>
            </a:pPr>
            <a:r>
              <a:rPr sz="1650" b="1">
                <a:solidFill>
                  <a:srgbClr val="E5751F"/>
                </a:solidFill>
                <a:latin typeface="Consolas"/>
                <a:ea typeface="Consolas"/>
                <a:cs typeface="Consolas"/>
              </a:rPr>
              <a:t>USEFUL</a:t>
            </a:r>
          </a:p>
        </p:txBody>
      </p:sp>
      <p:sp>
        <p:nvSpPr>
          <p:cNvPr id="8" name="">
            <a:extLst xmlns:a="http://schemas.openxmlformats.org/drawingml/2006/main">
              <a:ext uri="{FF2B5EF4-FFF2-40B4-BE49-F238E27FC236}">
                <a16:creationId xmlns:a16="http://schemas.microsoft.com/office/drawing/2014/main" id="{FF0AEE48-AF88-4B7C-97D2-1AB1CA59C172}"/>
              </a:ext>
            </a:extLst>
          </p:cNvPr>
          <p:cNvSpPr>
            <a:spLocks xmlns:a="http://schemas.openxmlformats.org/drawingml/2006/main" noGrp="1"/>
          </p:cNvSpPr>
          <p:nvPr/>
        </p:nvSpPr>
        <p:spPr>
          <a:xfrm xmlns:a="http://schemas.openxmlformats.org/drawingml/2006/main">
            <a:off x="666750" y="2667000"/>
            <a:ext cx="47910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800"/>
              </a:spcAft>
              <a:buChar char="•"/>
              <a:defRPr sz="2175" b="0">
                <a:solidFill>
                  <a:srgbClr val="F7F7F4"/>
                </a:solidFill>
                <a:latin typeface="Arial"/>
                <a:ea typeface="Arial"/>
                <a:cs typeface="Arial"/>
              </a:defRPr>
            </a:pPr>
            <a:r>
              <a:rPr sz="2175" b="0">
                <a:solidFill>
                  <a:srgbClr val="F7F7F4"/>
                </a:solidFill>
                <a:latin typeface="Arial"/>
                <a:ea typeface="Arial"/>
                <a:cs typeface="Arial"/>
              </a:rPr>
              <a:t>Fast drafts and refactoring</a:t>
            </a:r>
          </a:p>
          <a:p xmlns:a="http://schemas.openxmlformats.org/drawingml/2006/main">
            <a:pPr marL="241300" indent="-114300">
              <a:spcAft>
                <a:spcPts val="1800"/>
              </a:spcAft>
              <a:buChar char="•"/>
              <a:defRPr sz="2175" b="0">
                <a:solidFill>
                  <a:srgbClr val="F7F7F4"/>
                </a:solidFill>
                <a:latin typeface="Arial"/>
                <a:ea typeface="Arial"/>
                <a:cs typeface="Arial"/>
              </a:defRPr>
            </a:pPr>
            <a:r>
              <a:rPr sz="2175" b="0">
                <a:solidFill>
                  <a:srgbClr val="F7F7F4"/>
                </a:solidFill>
                <a:latin typeface="Arial"/>
                <a:ea typeface="Arial"/>
                <a:cs typeface="Arial"/>
              </a:rPr>
              <a:t>Help with unfamiliar languages</a:t>
            </a:r>
          </a:p>
        </p:txBody>
      </p:sp>
      <p:sp>
        <p:nvSpPr>
          <p:cNvPr id="9" name="">
            <a:extLst xmlns:a="http://schemas.openxmlformats.org/drawingml/2006/main">
              <a:ext uri="{FF2B5EF4-FFF2-40B4-BE49-F238E27FC236}">
                <a16:creationId xmlns:a16="http://schemas.microsoft.com/office/drawing/2014/main" id="{6A7F2C20-71D5-4CD4-94FB-D0AED523229D}"/>
              </a:ext>
            </a:extLst>
          </p:cNvPr>
          <p:cNvSpPr>
            <a:spLocks xmlns:a="http://schemas.openxmlformats.org/drawingml/2006/main" noGrp="1"/>
          </p:cNvSpPr>
          <p:nvPr/>
        </p:nvSpPr>
        <p:spPr>
          <a:xfrm xmlns:a="http://schemas.openxmlformats.org/drawingml/2006/main">
            <a:off x="6715125" y="20574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5751F"/>
                </a:solidFill>
                <a:latin typeface="Consolas"/>
                <a:ea typeface="Consolas"/>
                <a:cs typeface="Consolas"/>
              </a:defRPr>
            </a:pPr>
            <a:r>
              <a:rPr sz="1650" b="1">
                <a:solidFill>
                  <a:srgbClr val="E5751F"/>
                </a:solidFill>
                <a:latin typeface="Consolas"/>
                <a:ea typeface="Consolas"/>
                <a:cs typeface="Consolas"/>
              </a:rPr>
              <a:t>FRICTION</a:t>
            </a:r>
          </a:p>
        </p:txBody>
      </p:sp>
      <p:sp>
        <p:nvSpPr>
          <p:cNvPr id="10" name="">
            <a:extLst xmlns:a="http://schemas.openxmlformats.org/drawingml/2006/main">
              <a:ext uri="{FF2B5EF4-FFF2-40B4-BE49-F238E27FC236}">
                <a16:creationId xmlns:a16="http://schemas.microsoft.com/office/drawing/2014/main" id="{1811532F-000A-4AD7-B7D2-AA363AB99C34}"/>
              </a:ext>
            </a:extLst>
          </p:cNvPr>
          <p:cNvSpPr>
            <a:spLocks xmlns:a="http://schemas.openxmlformats.org/drawingml/2006/main" noGrp="1"/>
          </p:cNvSpPr>
          <p:nvPr/>
        </p:nvSpPr>
        <p:spPr>
          <a:xfrm xmlns:a="http://schemas.openxmlformats.org/drawingml/2006/main">
            <a:off x="6715125" y="2667000"/>
            <a:ext cx="4572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800"/>
              </a:spcAft>
              <a:buChar char="•"/>
              <a:defRPr sz="2175" b="0">
                <a:solidFill>
                  <a:srgbClr val="F7F7F4"/>
                </a:solidFill>
                <a:latin typeface="Arial"/>
                <a:ea typeface="Arial"/>
                <a:cs typeface="Arial"/>
              </a:defRPr>
            </a:pPr>
            <a:r>
              <a:rPr sz="2175" b="0">
                <a:solidFill>
                  <a:srgbClr val="F7F7F4"/>
                </a:solidFill>
                <a:latin typeface="Arial"/>
                <a:ea typeface="Arial"/>
                <a:cs typeface="Arial"/>
              </a:rPr>
              <a:t>Generic visuals and excess code</a:t>
            </a:r>
          </a:p>
          <a:p xmlns:a="http://schemas.openxmlformats.org/drawingml/2006/main">
            <a:pPr marL="241300" indent="-114300">
              <a:spcAft>
                <a:spcPts val="1800"/>
              </a:spcAft>
              <a:buChar char="•"/>
              <a:defRPr sz="2175" b="0">
                <a:solidFill>
                  <a:srgbClr val="F7F7F4"/>
                </a:solidFill>
                <a:latin typeface="Arial"/>
                <a:ea typeface="Arial"/>
                <a:cs typeface="Arial"/>
              </a:defRPr>
            </a:pPr>
            <a:r>
              <a:rPr sz="2175" b="0">
                <a:solidFill>
                  <a:srgbClr val="F7F7F4"/>
                </a:solidFill>
                <a:latin typeface="Arial"/>
                <a:ea typeface="Arial"/>
                <a:cs typeface="Arial"/>
              </a:rPr>
              <a:t>Time and token cost</a:t>
            </a:r>
          </a:p>
        </p:txBody>
      </p:sp>
      <p:sp>
        <p:nvSpPr>
          <p:cNvPr id="11" name="">
            <a:extLst xmlns:a="http://schemas.openxmlformats.org/drawingml/2006/main">
              <a:ext uri="{FF2B5EF4-FFF2-40B4-BE49-F238E27FC236}">
                <a16:creationId xmlns:a16="http://schemas.microsoft.com/office/drawing/2014/main" id="{893109A6-0101-4B6D-B7E4-8AEC6345BDF3}"/>
              </a:ext>
            </a:extLst>
          </p:cNvPr>
          <p:cNvSpPr>
            <a:spLocks xmlns:a="http://schemas.openxmlformats.org/drawingml/2006/main" noGrp="1"/>
          </p:cNvSpPr>
          <p:nvPr/>
        </p:nvSpPr>
        <p:spPr>
          <a:xfrm xmlns:a="http://schemas.openxmlformats.org/drawingml/2006/main">
            <a:off x="676275" y="46482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7F7F4"/>
                </a:solidFill>
                <a:latin typeface="Arial"/>
                <a:ea typeface="Arial"/>
                <a:cs typeface="Arial"/>
              </a:defRPr>
            </a:pPr>
            <a:r>
              <a:rPr sz="2850" b="1">
                <a:solidFill>
                  <a:srgbClr val="F7F7F4"/>
                </a:solidFill>
                <a:latin typeface="Arial"/>
                <a:ea typeface="Arial"/>
                <a:cs typeface="Arial"/>
              </a:rPr>
              <a:t>Next: our C# mod experiment</a:t>
            </a:r>
          </a:p>
        </p:txBody>
      </p:sp>
      <p:sp>
        <p:nvSpPr>
          <p:cNvPr id="12" name="">
            <a:extLst xmlns:a="http://schemas.openxmlformats.org/drawingml/2006/main">
              <a:ext uri="{FF2B5EF4-FFF2-40B4-BE49-F238E27FC236}">
                <a16:creationId xmlns:a16="http://schemas.microsoft.com/office/drawing/2014/main" id="{60F17D40-42D7-4FF2-975F-BF5D114039B1}"/>
              </a:ext>
            </a:extLst>
          </p:cNvPr>
          <p:cNvSpPr>
            <a:spLocks xmlns:a="http://schemas.openxmlformats.org/drawingml/2006/main" noGrp="1"/>
          </p:cNvSpPr>
          <p:nvPr/>
        </p:nvSpPr>
        <p:spPr>
          <a:xfrm xmlns:a="http://schemas.openxmlformats.org/drawingml/2006/main">
            <a:off x="695325" y="539115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7C1CB"/>
                </a:solidFill>
                <a:latin typeface="Arial"/>
                <a:ea typeface="Arial"/>
                <a:cs typeface="Arial"/>
              </a:defRPr>
            </a:pPr>
            <a:r>
              <a:rPr sz="1950" b="0">
                <a:solidFill>
                  <a:srgbClr val="B7C1CB"/>
                </a:solidFill>
                <a:latin typeface="Arial"/>
                <a:ea typeface="Arial"/>
                <a:cs typeface="Arial"/>
              </a:rPr>
              <a:t>A playable prototype helped us explore beyond the languages we knew.</a:t>
            </a:r>
          </a:p>
        </p:txBody>
      </p:sp>
    </p:spTree>
    <p:extLst>
      <p:ext uri="{BB962C8B-B14F-4D97-AF65-F5344CB8AC3E}">
        <p14:creationId xmlns:p14="http://schemas.microsoft.com/office/powerpoint/2010/main" val="12070998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2026-09-25T17:01:39.4360000Z</dcterms:created>
  <dcterms:modified xsi:type="dcterms:W3CDTF">2026-09-25T17:01:39.4360000Z</dcterms:modified>
</coreProperties>
</file>